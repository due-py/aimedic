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Arial Bold" panose="020B0704020202020204" pitchFamily="34" charset="0"/>
      <p:regular r:id="rId18"/>
      <p:bold r:id="rId19"/>
    </p:embeddedFont>
    <p:embeddedFont>
      <p:font typeface="Arial Italics" panose="020B0604020202020204" charset="0"/>
      <p:regular r:id="rId20"/>
    </p:embeddedFont>
    <p:embeddedFont>
      <p:font typeface="Arimo"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110" y="30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49363" y="2163998"/>
            <a:ext cx="16389274" cy="2522302"/>
            <a:chOff x="0" y="0"/>
            <a:chExt cx="30326697" cy="3363069"/>
          </a:xfrm>
        </p:grpSpPr>
        <p:sp>
          <p:nvSpPr>
            <p:cNvPr id="3" name="Freeform 3"/>
            <p:cNvSpPr/>
            <p:nvPr/>
          </p:nvSpPr>
          <p:spPr>
            <a:xfrm>
              <a:off x="0" y="0"/>
              <a:ext cx="30326698" cy="3363069"/>
            </a:xfrm>
            <a:custGeom>
              <a:avLst/>
              <a:gdLst/>
              <a:ahLst/>
              <a:cxnLst/>
              <a:rect l="l" t="t" r="r" b="b"/>
              <a:pathLst>
                <a:path w="30326698" h="3363069">
                  <a:moveTo>
                    <a:pt x="0" y="0"/>
                  </a:moveTo>
                  <a:lnTo>
                    <a:pt x="30326698" y="0"/>
                  </a:lnTo>
                  <a:lnTo>
                    <a:pt x="30326698" y="3363069"/>
                  </a:lnTo>
                  <a:lnTo>
                    <a:pt x="0" y="3363069"/>
                  </a:lnTo>
                  <a:close/>
                </a:path>
              </a:pathLst>
            </a:custGeom>
            <a:solidFill>
              <a:srgbClr val="FFFFFF"/>
            </a:solidFill>
            <a:ln w="19050" cap="sq">
              <a:solidFill>
                <a:srgbClr val="D9D9D9"/>
              </a:solidFill>
              <a:prstDash val="solid"/>
              <a:miter/>
            </a:ln>
          </p:spPr>
          <p:txBody>
            <a:bodyPr/>
            <a:lstStyle/>
            <a:p>
              <a:endParaRPr lang="en-US"/>
            </a:p>
          </p:txBody>
        </p:sp>
        <p:sp>
          <p:nvSpPr>
            <p:cNvPr id="4" name="TextBox 4"/>
            <p:cNvSpPr txBox="1"/>
            <p:nvPr/>
          </p:nvSpPr>
          <p:spPr>
            <a:xfrm>
              <a:off x="0" y="28575"/>
              <a:ext cx="30326697" cy="3334494"/>
            </a:xfrm>
            <a:prstGeom prst="rect">
              <a:avLst/>
            </a:prstGeom>
          </p:spPr>
          <p:txBody>
            <a:bodyPr lIns="50800" tIns="50800" rIns="50800" bIns="50800" rtlCol="0" anchor="ctr"/>
            <a:lstStyle/>
            <a:p>
              <a:pPr algn="ctr">
                <a:lnSpc>
                  <a:spcPts val="5400"/>
                </a:lnSpc>
              </a:pPr>
              <a:r>
                <a:rPr lang="en-US" sz="5000">
                  <a:solidFill>
                    <a:srgbClr val="595959"/>
                  </a:solidFill>
                  <a:latin typeface="Arial"/>
                  <a:ea typeface="Arial"/>
                  <a:cs typeface="Arial"/>
                  <a:sym typeface="Arial"/>
                </a:rPr>
                <a:t>AI School Health Coach – Huấn luyện viên AI </a:t>
              </a:r>
            </a:p>
            <a:p>
              <a:pPr algn="ctr">
                <a:lnSpc>
                  <a:spcPts val="5400"/>
                </a:lnSpc>
              </a:pPr>
              <a:r>
                <a:rPr lang="en-US" sz="5000">
                  <a:solidFill>
                    <a:srgbClr val="595959"/>
                  </a:solidFill>
                  <a:latin typeface="Arial"/>
                  <a:ea typeface="Arial"/>
                  <a:cs typeface="Arial"/>
                  <a:sym typeface="Arial"/>
                </a:rPr>
                <a:t>chăm sóc sức khỏe học đường cho học sinh </a:t>
              </a:r>
            </a:p>
          </p:txBody>
        </p:sp>
      </p:grpSp>
      <p:grpSp>
        <p:nvGrpSpPr>
          <p:cNvPr id="5" name="Group 5"/>
          <p:cNvGrpSpPr/>
          <p:nvPr/>
        </p:nvGrpSpPr>
        <p:grpSpPr>
          <a:xfrm>
            <a:off x="514350" y="4686300"/>
            <a:ext cx="17259300" cy="3886200"/>
            <a:chOff x="0" y="0"/>
            <a:chExt cx="23012400" cy="5181600"/>
          </a:xfrm>
        </p:grpSpPr>
        <p:sp>
          <p:nvSpPr>
            <p:cNvPr id="6" name="Freeform 6"/>
            <p:cNvSpPr/>
            <p:nvPr/>
          </p:nvSpPr>
          <p:spPr>
            <a:xfrm>
              <a:off x="0" y="0"/>
              <a:ext cx="23012400" cy="5181600"/>
            </a:xfrm>
            <a:custGeom>
              <a:avLst/>
              <a:gdLst/>
              <a:ahLst/>
              <a:cxnLst/>
              <a:rect l="l" t="t" r="r" b="b"/>
              <a:pathLst>
                <a:path w="23012400" h="5181600">
                  <a:moveTo>
                    <a:pt x="0" y="0"/>
                  </a:moveTo>
                  <a:lnTo>
                    <a:pt x="23012400" y="0"/>
                  </a:lnTo>
                  <a:lnTo>
                    <a:pt x="23012400" y="5181600"/>
                  </a:lnTo>
                  <a:lnTo>
                    <a:pt x="0" y="5181600"/>
                  </a:lnTo>
                  <a:close/>
                </a:path>
              </a:pathLst>
            </a:custGeom>
            <a:blipFill>
              <a:blip r:embed="rId2">
                <a:alphaModFix amt="0"/>
              </a:blip>
              <a:stretch>
                <a:fillRect t="-36536" b="-36536"/>
              </a:stretch>
            </a:blipFill>
          </p:spPr>
          <p:txBody>
            <a:bodyPr/>
            <a:lstStyle/>
            <a:p>
              <a:endParaRPr lang="en-US"/>
            </a:p>
          </p:txBody>
        </p:sp>
        <p:sp>
          <p:nvSpPr>
            <p:cNvPr id="7" name="TextBox 7"/>
            <p:cNvSpPr txBox="1"/>
            <p:nvPr/>
          </p:nvSpPr>
          <p:spPr>
            <a:xfrm>
              <a:off x="0" y="38100"/>
              <a:ext cx="23012400" cy="5143500"/>
            </a:xfrm>
            <a:prstGeom prst="rect">
              <a:avLst/>
            </a:prstGeom>
          </p:spPr>
          <p:txBody>
            <a:bodyPr lIns="0" tIns="0" rIns="0" bIns="0" rtlCol="0" anchor="ctr"/>
            <a:lstStyle/>
            <a:p>
              <a:pPr algn="ctr">
                <a:lnSpc>
                  <a:spcPts val="5184"/>
                </a:lnSpc>
              </a:pPr>
              <a:r>
                <a:rPr lang="en-US" sz="4800" dirty="0" err="1">
                  <a:solidFill>
                    <a:srgbClr val="000000"/>
                  </a:solidFill>
                  <a:latin typeface="Arial"/>
                  <a:ea typeface="Arial"/>
                  <a:cs typeface="Arial"/>
                  <a:sym typeface="Arial"/>
                </a:rPr>
                <a:t>Đội</a:t>
              </a:r>
              <a:r>
                <a:rPr lang="en-US" sz="4800" dirty="0">
                  <a:solidFill>
                    <a:srgbClr val="000000"/>
                  </a:solidFill>
                  <a:latin typeface="Arial"/>
                  <a:ea typeface="Arial"/>
                  <a:cs typeface="Arial"/>
                  <a:sym typeface="Arial"/>
                </a:rPr>
                <a:t> </a:t>
              </a:r>
              <a:r>
                <a:rPr lang="en-US" sz="4800" dirty="0" err="1">
                  <a:solidFill>
                    <a:srgbClr val="000000"/>
                  </a:solidFill>
                  <a:latin typeface="Arial"/>
                  <a:ea typeface="Arial"/>
                  <a:cs typeface="Arial"/>
                  <a:sym typeface="Arial"/>
                </a:rPr>
                <a:t>Thi</a:t>
              </a:r>
              <a:r>
                <a:rPr lang="en-US" sz="4800" dirty="0">
                  <a:solidFill>
                    <a:srgbClr val="000000"/>
                  </a:solidFill>
                  <a:latin typeface="Arial"/>
                  <a:ea typeface="Arial"/>
                  <a:cs typeface="Arial"/>
                  <a:sym typeface="Arial"/>
                </a:rPr>
                <a:t>: </a:t>
              </a:r>
              <a:r>
                <a:rPr lang="en-US" sz="4800" dirty="0" err="1">
                  <a:solidFill>
                    <a:srgbClr val="0070C0"/>
                  </a:solidFill>
                  <a:latin typeface="Arial"/>
                  <a:ea typeface="Arial"/>
                  <a:cs typeface="Arial"/>
                  <a:sym typeface="Arial"/>
                </a:rPr>
                <a:t>AIMedic</a:t>
              </a:r>
              <a:endParaRPr lang="en-US" sz="4800" dirty="0">
                <a:solidFill>
                  <a:srgbClr val="0070C0"/>
                </a:solidFill>
                <a:latin typeface="Arial"/>
                <a:ea typeface="Arial"/>
                <a:cs typeface="Arial"/>
                <a:sym typeface="Arial"/>
              </a:endParaRPr>
            </a:p>
            <a:p>
              <a:pPr algn="ctr">
                <a:lnSpc>
                  <a:spcPts val="3726"/>
                </a:lnSpc>
              </a:pPr>
              <a:r>
                <a:rPr lang="en-US" sz="3450" dirty="0" err="1">
                  <a:solidFill>
                    <a:srgbClr val="000000"/>
                  </a:solidFill>
                  <a:latin typeface="Arial"/>
                  <a:ea typeface="Arial"/>
                  <a:cs typeface="Arial"/>
                  <a:sym typeface="Arial"/>
                </a:rPr>
                <a:t>Giáo</a:t>
              </a:r>
              <a:r>
                <a:rPr lang="en-US" sz="3450" dirty="0">
                  <a:solidFill>
                    <a:srgbClr val="000000"/>
                  </a:solidFill>
                  <a:latin typeface="Arial"/>
                  <a:ea typeface="Arial"/>
                  <a:cs typeface="Arial"/>
                  <a:sym typeface="Arial"/>
                </a:rPr>
                <a:t> </a:t>
              </a:r>
              <a:r>
                <a:rPr lang="en-US" sz="3450" dirty="0" err="1">
                  <a:solidFill>
                    <a:srgbClr val="000000"/>
                  </a:solidFill>
                  <a:latin typeface="Arial"/>
                  <a:ea typeface="Arial"/>
                  <a:cs typeface="Arial"/>
                  <a:sym typeface="Arial"/>
                </a:rPr>
                <a:t>viên</a:t>
              </a:r>
              <a:r>
                <a:rPr lang="en-US" sz="3450" dirty="0">
                  <a:solidFill>
                    <a:srgbClr val="000000"/>
                  </a:solidFill>
                  <a:latin typeface="Arial"/>
                  <a:ea typeface="Arial"/>
                  <a:cs typeface="Arial"/>
                  <a:sym typeface="Arial"/>
                </a:rPr>
                <a:t> </a:t>
              </a:r>
              <a:r>
                <a:rPr lang="en-US" sz="3450" dirty="0" err="1">
                  <a:solidFill>
                    <a:srgbClr val="000000"/>
                  </a:solidFill>
                  <a:latin typeface="Arial"/>
                  <a:ea typeface="Arial"/>
                  <a:cs typeface="Arial"/>
                  <a:sym typeface="Arial"/>
                </a:rPr>
                <a:t>hướng</a:t>
              </a:r>
              <a:r>
                <a:rPr lang="en-US" sz="3450" dirty="0">
                  <a:solidFill>
                    <a:srgbClr val="000000"/>
                  </a:solidFill>
                  <a:latin typeface="Arial"/>
                  <a:ea typeface="Arial"/>
                  <a:cs typeface="Arial"/>
                  <a:sym typeface="Arial"/>
                </a:rPr>
                <a:t> </a:t>
              </a:r>
              <a:r>
                <a:rPr lang="en-US" sz="3450" dirty="0" err="1">
                  <a:solidFill>
                    <a:srgbClr val="000000"/>
                  </a:solidFill>
                  <a:latin typeface="Arial"/>
                  <a:ea typeface="Arial"/>
                  <a:cs typeface="Arial"/>
                  <a:sym typeface="Arial"/>
                </a:rPr>
                <a:t>dẫn</a:t>
              </a:r>
              <a:r>
                <a:rPr lang="en-US" sz="3450" dirty="0">
                  <a:solidFill>
                    <a:srgbClr val="000000"/>
                  </a:solidFill>
                  <a:latin typeface="Arial"/>
                  <a:ea typeface="Arial"/>
                  <a:cs typeface="Arial"/>
                  <a:sym typeface="Arial"/>
                </a:rPr>
                <a:t>: </a:t>
              </a:r>
              <a:r>
                <a:rPr lang="en-US" sz="3450" dirty="0" err="1">
                  <a:solidFill>
                    <a:srgbClr val="0070C0"/>
                  </a:solidFill>
                  <a:latin typeface="Arial"/>
                  <a:ea typeface="Arial"/>
                  <a:cs typeface="Arial"/>
                  <a:sym typeface="Arial"/>
                </a:rPr>
                <a:t>Từ</a:t>
              </a:r>
              <a:r>
                <a:rPr lang="en-US" sz="3450" dirty="0">
                  <a:solidFill>
                    <a:srgbClr val="0070C0"/>
                  </a:solidFill>
                  <a:latin typeface="Arial"/>
                  <a:ea typeface="Arial"/>
                  <a:cs typeface="Arial"/>
                  <a:sym typeface="Arial"/>
                </a:rPr>
                <a:t> Phương Anh</a:t>
              </a:r>
            </a:p>
            <a:p>
              <a:pPr algn="ctr">
                <a:lnSpc>
                  <a:spcPts val="3726"/>
                </a:lnSpc>
              </a:pPr>
              <a:r>
                <a:rPr lang="en-US" sz="3450" dirty="0" err="1">
                  <a:solidFill>
                    <a:srgbClr val="000000"/>
                  </a:solidFill>
                  <a:latin typeface="Arial"/>
                  <a:ea typeface="Arial"/>
                  <a:cs typeface="Arial"/>
                  <a:sym typeface="Arial"/>
                </a:rPr>
                <a:t>Đơn</a:t>
              </a:r>
              <a:r>
                <a:rPr lang="en-US" sz="3450" dirty="0">
                  <a:solidFill>
                    <a:srgbClr val="000000"/>
                  </a:solidFill>
                  <a:latin typeface="Arial"/>
                  <a:ea typeface="Arial"/>
                  <a:cs typeface="Arial"/>
                  <a:sym typeface="Arial"/>
                </a:rPr>
                <a:t> </a:t>
              </a:r>
              <a:r>
                <a:rPr lang="en-US" sz="3450" dirty="0" err="1">
                  <a:solidFill>
                    <a:srgbClr val="000000"/>
                  </a:solidFill>
                  <a:latin typeface="Arial"/>
                  <a:ea typeface="Arial"/>
                  <a:cs typeface="Arial"/>
                  <a:sym typeface="Arial"/>
                </a:rPr>
                <a:t>vị</a:t>
              </a:r>
              <a:r>
                <a:rPr lang="en-US" sz="3450" dirty="0">
                  <a:solidFill>
                    <a:srgbClr val="000000"/>
                  </a:solidFill>
                  <a:latin typeface="Arial"/>
                  <a:ea typeface="Arial"/>
                  <a:cs typeface="Arial"/>
                  <a:sym typeface="Arial"/>
                </a:rPr>
                <a:t> </a:t>
              </a:r>
              <a:r>
                <a:rPr lang="en-US" sz="3450" dirty="0" err="1">
                  <a:solidFill>
                    <a:srgbClr val="000000"/>
                  </a:solidFill>
                  <a:latin typeface="Arial"/>
                  <a:ea typeface="Arial"/>
                  <a:cs typeface="Arial"/>
                  <a:sym typeface="Arial"/>
                </a:rPr>
                <a:t>đăng</a:t>
              </a:r>
              <a:r>
                <a:rPr lang="en-US" sz="3450" dirty="0">
                  <a:solidFill>
                    <a:srgbClr val="000000"/>
                  </a:solidFill>
                  <a:latin typeface="Arial"/>
                  <a:ea typeface="Arial"/>
                  <a:cs typeface="Arial"/>
                  <a:sym typeface="Arial"/>
                </a:rPr>
                <a:t> </a:t>
              </a:r>
              <a:r>
                <a:rPr lang="en-US" sz="3450" dirty="0" err="1">
                  <a:solidFill>
                    <a:srgbClr val="000000"/>
                  </a:solidFill>
                  <a:latin typeface="Arial"/>
                  <a:ea typeface="Arial"/>
                  <a:cs typeface="Arial"/>
                  <a:sym typeface="Arial"/>
                </a:rPr>
                <a:t>ký</a:t>
              </a:r>
              <a:r>
                <a:rPr lang="en-US" sz="3450" dirty="0">
                  <a:solidFill>
                    <a:srgbClr val="000000"/>
                  </a:solidFill>
                  <a:latin typeface="Arial"/>
                  <a:ea typeface="Arial"/>
                  <a:cs typeface="Arial"/>
                  <a:sym typeface="Arial"/>
                </a:rPr>
                <a:t>: </a:t>
              </a:r>
              <a:r>
                <a:rPr lang="en-US" sz="3450" dirty="0">
                  <a:solidFill>
                    <a:srgbClr val="0070C0"/>
                  </a:solidFill>
                  <a:latin typeface="Arial"/>
                  <a:ea typeface="Arial"/>
                  <a:cs typeface="Arial"/>
                  <a:sym typeface="Arial"/>
                </a:rPr>
                <a:t>Trường </a:t>
              </a:r>
              <a:r>
                <a:rPr lang="en-US" sz="3450" dirty="0" err="1">
                  <a:solidFill>
                    <a:srgbClr val="0070C0"/>
                  </a:solidFill>
                  <a:latin typeface="Arial"/>
                  <a:ea typeface="Arial"/>
                  <a:cs typeface="Arial"/>
                  <a:sym typeface="Arial"/>
                </a:rPr>
                <a:t>Tiểu</a:t>
              </a:r>
              <a:r>
                <a:rPr lang="en-US" sz="3450" dirty="0">
                  <a:solidFill>
                    <a:srgbClr val="0070C0"/>
                  </a:solidFill>
                  <a:latin typeface="Arial"/>
                  <a:ea typeface="Arial"/>
                  <a:cs typeface="Arial"/>
                  <a:sym typeface="Arial"/>
                </a:rPr>
                <a:t> </a:t>
              </a:r>
              <a:r>
                <a:rPr lang="en-US" sz="3450" dirty="0" err="1">
                  <a:solidFill>
                    <a:srgbClr val="0070C0"/>
                  </a:solidFill>
                  <a:latin typeface="Arial"/>
                  <a:ea typeface="Arial"/>
                  <a:cs typeface="Arial"/>
                  <a:sym typeface="Arial"/>
                </a:rPr>
                <a:t>học</a:t>
              </a:r>
              <a:r>
                <a:rPr lang="en-US" sz="3450" dirty="0">
                  <a:solidFill>
                    <a:srgbClr val="0070C0"/>
                  </a:solidFill>
                  <a:latin typeface="Arial"/>
                  <a:ea typeface="Arial"/>
                  <a:cs typeface="Arial"/>
                  <a:sym typeface="Arial"/>
                </a:rPr>
                <a:t>, THCS </a:t>
              </a:r>
              <a:r>
                <a:rPr lang="en-US" sz="3450" dirty="0" err="1">
                  <a:solidFill>
                    <a:srgbClr val="0070C0"/>
                  </a:solidFill>
                  <a:latin typeface="Arial"/>
                  <a:ea typeface="Arial"/>
                  <a:cs typeface="Arial"/>
                  <a:sym typeface="Arial"/>
                </a:rPr>
                <a:t>và</a:t>
              </a:r>
              <a:r>
                <a:rPr lang="en-US" sz="3450" dirty="0">
                  <a:solidFill>
                    <a:srgbClr val="0070C0"/>
                  </a:solidFill>
                  <a:latin typeface="Arial"/>
                  <a:ea typeface="Arial"/>
                  <a:cs typeface="Arial"/>
                  <a:sym typeface="Arial"/>
                </a:rPr>
                <a:t> THPT FPT Bắc Giang</a:t>
              </a:r>
            </a:p>
            <a:p>
              <a:pPr algn="ctr">
                <a:lnSpc>
                  <a:spcPts val="3726"/>
                </a:lnSpc>
              </a:pPr>
              <a:r>
                <a:rPr lang="en-US" sz="3450" dirty="0" err="1">
                  <a:solidFill>
                    <a:srgbClr val="000000"/>
                  </a:solidFill>
                  <a:latin typeface="Arial"/>
                  <a:ea typeface="Arial"/>
                  <a:cs typeface="Arial"/>
                  <a:sym typeface="Arial"/>
                </a:rPr>
                <a:t>Tỉnh</a:t>
              </a:r>
              <a:r>
                <a:rPr lang="en-US" sz="3450" dirty="0">
                  <a:solidFill>
                    <a:srgbClr val="000000"/>
                  </a:solidFill>
                  <a:latin typeface="Arial"/>
                  <a:ea typeface="Arial"/>
                  <a:cs typeface="Arial"/>
                  <a:sym typeface="Arial"/>
                </a:rPr>
                <a:t>: </a:t>
              </a:r>
              <a:r>
                <a:rPr lang="en-US" sz="3450" dirty="0">
                  <a:solidFill>
                    <a:srgbClr val="0070C0"/>
                  </a:solidFill>
                  <a:latin typeface="Arial"/>
                  <a:ea typeface="Arial"/>
                  <a:cs typeface="Arial"/>
                  <a:sym typeface="Arial"/>
                </a:rPr>
                <a:t>Bắc Ninh</a:t>
              </a:r>
            </a:p>
          </p:txBody>
        </p:sp>
      </p:grpSp>
      <p:grpSp>
        <p:nvGrpSpPr>
          <p:cNvPr id="8" name="Group 8"/>
          <p:cNvGrpSpPr/>
          <p:nvPr/>
        </p:nvGrpSpPr>
        <p:grpSpPr>
          <a:xfrm>
            <a:off x="13658850" y="120025"/>
            <a:ext cx="2590238" cy="688810"/>
            <a:chOff x="0" y="0"/>
            <a:chExt cx="3453651" cy="918413"/>
          </a:xfrm>
        </p:grpSpPr>
        <p:sp>
          <p:nvSpPr>
            <p:cNvPr id="9" name="Freeform 9"/>
            <p:cNvSpPr/>
            <p:nvPr/>
          </p:nvSpPr>
          <p:spPr>
            <a:xfrm>
              <a:off x="0" y="0"/>
              <a:ext cx="3453638" cy="918464"/>
            </a:xfrm>
            <a:custGeom>
              <a:avLst/>
              <a:gdLst/>
              <a:ahLst/>
              <a:cxnLst/>
              <a:rect l="l" t="t" r="r" b="b"/>
              <a:pathLst>
                <a:path w="3453638" h="918464">
                  <a:moveTo>
                    <a:pt x="0" y="0"/>
                  </a:moveTo>
                  <a:lnTo>
                    <a:pt x="3453638" y="0"/>
                  </a:lnTo>
                  <a:lnTo>
                    <a:pt x="3453638" y="918464"/>
                  </a:lnTo>
                  <a:lnTo>
                    <a:pt x="0" y="918464"/>
                  </a:lnTo>
                  <a:lnTo>
                    <a:pt x="0" y="0"/>
                  </a:lnTo>
                  <a:close/>
                </a:path>
              </a:pathLst>
            </a:custGeom>
            <a:blipFill>
              <a:blip r:embed="rId3"/>
              <a:stretch>
                <a:fillRect b="5"/>
              </a:stretch>
            </a:blipFill>
          </p:spPr>
          <p:txBody>
            <a:bodyPr/>
            <a:lstStyle/>
            <a:p>
              <a:endParaRPr lang="en-US"/>
            </a:p>
          </p:txBody>
        </p:sp>
      </p:grpSp>
      <p:grpSp>
        <p:nvGrpSpPr>
          <p:cNvPr id="10" name="Group 10"/>
          <p:cNvGrpSpPr/>
          <p:nvPr/>
        </p:nvGrpSpPr>
        <p:grpSpPr>
          <a:xfrm>
            <a:off x="342900" y="9148134"/>
            <a:ext cx="2823886" cy="929440"/>
            <a:chOff x="0" y="0"/>
            <a:chExt cx="3765182" cy="1239253"/>
          </a:xfrm>
        </p:grpSpPr>
        <p:sp>
          <p:nvSpPr>
            <p:cNvPr id="11" name="Freeform 11"/>
            <p:cNvSpPr/>
            <p:nvPr/>
          </p:nvSpPr>
          <p:spPr>
            <a:xfrm>
              <a:off x="0" y="0"/>
              <a:ext cx="3765169" cy="1239266"/>
            </a:xfrm>
            <a:custGeom>
              <a:avLst/>
              <a:gdLst/>
              <a:ahLst/>
              <a:cxnLst/>
              <a:rect l="l" t="t" r="r" b="b"/>
              <a:pathLst>
                <a:path w="3765169" h="1239266">
                  <a:moveTo>
                    <a:pt x="0" y="0"/>
                  </a:moveTo>
                  <a:lnTo>
                    <a:pt x="3765169" y="0"/>
                  </a:lnTo>
                  <a:lnTo>
                    <a:pt x="3765169" y="1239266"/>
                  </a:lnTo>
                  <a:lnTo>
                    <a:pt x="0" y="1239266"/>
                  </a:lnTo>
                  <a:lnTo>
                    <a:pt x="0" y="0"/>
                  </a:lnTo>
                  <a:close/>
                </a:path>
              </a:pathLst>
            </a:custGeom>
            <a:blipFill>
              <a:blip r:embed="rId4"/>
              <a:stretch>
                <a:fillRect b="1"/>
              </a:stretch>
            </a:blipFill>
          </p:spPr>
          <p:txBody>
            <a:bodyPr/>
            <a:lstStyle/>
            <a:p>
              <a:endParaRPr lang="en-US"/>
            </a:p>
          </p:txBody>
        </p:sp>
      </p:grpSp>
      <p:grpSp>
        <p:nvGrpSpPr>
          <p:cNvPr id="12" name="Group 12"/>
          <p:cNvGrpSpPr/>
          <p:nvPr/>
        </p:nvGrpSpPr>
        <p:grpSpPr>
          <a:xfrm>
            <a:off x="16772782" y="189033"/>
            <a:ext cx="1321918" cy="550802"/>
            <a:chOff x="0" y="0"/>
            <a:chExt cx="1762557" cy="734403"/>
          </a:xfrm>
        </p:grpSpPr>
        <p:sp>
          <p:nvSpPr>
            <p:cNvPr id="13" name="Freeform 13"/>
            <p:cNvSpPr/>
            <p:nvPr/>
          </p:nvSpPr>
          <p:spPr>
            <a:xfrm>
              <a:off x="0" y="0"/>
              <a:ext cx="1762506" cy="734441"/>
            </a:xfrm>
            <a:custGeom>
              <a:avLst/>
              <a:gdLst/>
              <a:ahLst/>
              <a:cxnLst/>
              <a:rect l="l" t="t" r="r" b="b"/>
              <a:pathLst>
                <a:path w="1762506" h="734441">
                  <a:moveTo>
                    <a:pt x="0" y="0"/>
                  </a:moveTo>
                  <a:lnTo>
                    <a:pt x="1762506" y="0"/>
                  </a:lnTo>
                  <a:lnTo>
                    <a:pt x="1762506" y="734441"/>
                  </a:lnTo>
                  <a:lnTo>
                    <a:pt x="0" y="734441"/>
                  </a:lnTo>
                  <a:lnTo>
                    <a:pt x="0" y="0"/>
                  </a:lnTo>
                  <a:close/>
                </a:path>
              </a:pathLst>
            </a:custGeom>
            <a:blipFill>
              <a:blip r:embed="rId5"/>
              <a:stretch>
                <a:fillRect r="-2" b="5"/>
              </a:stretch>
            </a:blipFill>
          </p:spPr>
          <p:txBody>
            <a:bodyPr/>
            <a:lstStyle/>
            <a:p>
              <a:endParaRPr lang="en-US"/>
            </a:p>
          </p:txBody>
        </p:sp>
      </p:grpSp>
      <p:sp>
        <p:nvSpPr>
          <p:cNvPr id="14" name="AutoShape 14"/>
          <p:cNvSpPr/>
          <p:nvPr/>
        </p:nvSpPr>
        <p:spPr>
          <a:xfrm rot="5341560">
            <a:off x="16162858" y="459667"/>
            <a:ext cx="560403" cy="0"/>
          </a:xfrm>
          <a:prstGeom prst="line">
            <a:avLst/>
          </a:prstGeom>
          <a:ln w="9525" cap="rnd">
            <a:solidFill>
              <a:srgbClr val="FFFFFF"/>
            </a:solidFill>
            <a:prstDash val="solid"/>
            <a:headEnd type="none" w="sm" len="sm"/>
            <a:tailEnd type="none" w="sm" len="sm"/>
          </a:ln>
        </p:spPr>
        <p:txBody>
          <a:bodyPr/>
          <a:lstStyle/>
          <a:p>
            <a:endParaRPr lang="en-US"/>
          </a:p>
        </p:txBody>
      </p:sp>
      <p:grpSp>
        <p:nvGrpSpPr>
          <p:cNvPr id="15" name="Group 15"/>
          <p:cNvGrpSpPr/>
          <p:nvPr/>
        </p:nvGrpSpPr>
        <p:grpSpPr>
          <a:xfrm>
            <a:off x="15781811" y="8776316"/>
            <a:ext cx="2312889" cy="1075211"/>
            <a:chOff x="0" y="0"/>
            <a:chExt cx="3083852" cy="1433614"/>
          </a:xfrm>
        </p:grpSpPr>
        <p:sp>
          <p:nvSpPr>
            <p:cNvPr id="16" name="Freeform 16"/>
            <p:cNvSpPr/>
            <p:nvPr/>
          </p:nvSpPr>
          <p:spPr>
            <a:xfrm>
              <a:off x="0" y="0"/>
              <a:ext cx="3083814" cy="1433576"/>
            </a:xfrm>
            <a:custGeom>
              <a:avLst/>
              <a:gdLst/>
              <a:ahLst/>
              <a:cxnLst/>
              <a:rect l="l" t="t" r="r" b="b"/>
              <a:pathLst>
                <a:path w="3083814" h="1433576">
                  <a:moveTo>
                    <a:pt x="0" y="0"/>
                  </a:moveTo>
                  <a:lnTo>
                    <a:pt x="3083814" y="0"/>
                  </a:lnTo>
                  <a:lnTo>
                    <a:pt x="3083814" y="1433576"/>
                  </a:lnTo>
                  <a:lnTo>
                    <a:pt x="0" y="1433576"/>
                  </a:lnTo>
                  <a:lnTo>
                    <a:pt x="0" y="0"/>
                  </a:lnTo>
                  <a:close/>
                </a:path>
              </a:pathLst>
            </a:custGeom>
            <a:blipFill>
              <a:blip r:embed="rId6"/>
              <a:stretch>
                <a:fillRect r="-1" b="-2"/>
              </a:stretch>
            </a:blipFill>
          </p:spPr>
          <p:txBody>
            <a:bodyPr/>
            <a:lstStyle/>
            <a:p>
              <a:endParaRPr 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377426" y="3067050"/>
            <a:ext cx="13533149" cy="6248400"/>
          </a:xfrm>
          <a:prstGeom prst="rect">
            <a:avLst/>
          </a:prstGeom>
        </p:spPr>
        <p:txBody>
          <a:bodyPr lIns="0" tIns="0" rIns="0" bIns="0" rtlCol="0" anchor="t">
            <a:spAutoFit/>
          </a:bodyPr>
          <a:lstStyle/>
          <a:p>
            <a:pPr algn="ctr">
              <a:lnSpc>
                <a:spcPts val="8100"/>
              </a:lnSpc>
            </a:pPr>
            <a:r>
              <a:rPr lang="en-US" sz="7500">
                <a:solidFill>
                  <a:srgbClr val="000000"/>
                </a:solidFill>
                <a:latin typeface="Arial"/>
                <a:ea typeface="Arial"/>
                <a:cs typeface="Arial"/>
                <a:sym typeface="Arial"/>
              </a:rPr>
              <a:t>ĐỀ TÀI/ GIẢI PHÁP:</a:t>
            </a:r>
          </a:p>
          <a:p>
            <a:pPr algn="ctr">
              <a:lnSpc>
                <a:spcPts val="8100"/>
              </a:lnSpc>
            </a:pPr>
            <a:r>
              <a:rPr lang="en-US" sz="7500">
                <a:solidFill>
                  <a:srgbClr val="0070C0"/>
                </a:solidFill>
                <a:latin typeface="Arial"/>
                <a:ea typeface="Arial"/>
                <a:cs typeface="Arial"/>
                <a:sym typeface="Arial"/>
              </a:rPr>
              <a:t> AI School Health Coach – Huấn luyện viên AI </a:t>
            </a:r>
          </a:p>
          <a:p>
            <a:pPr algn="ctr">
              <a:lnSpc>
                <a:spcPts val="8100"/>
              </a:lnSpc>
            </a:pPr>
            <a:r>
              <a:rPr lang="en-US" sz="7500">
                <a:solidFill>
                  <a:srgbClr val="0070C0"/>
                </a:solidFill>
                <a:latin typeface="Arial"/>
                <a:ea typeface="Arial"/>
                <a:cs typeface="Arial"/>
                <a:sym typeface="Arial"/>
              </a:rPr>
              <a:t>chăm sóc sức khỏe học đường cho học sinh</a:t>
            </a:r>
          </a:p>
          <a:p>
            <a:pPr algn="ctr">
              <a:lnSpc>
                <a:spcPts val="8100"/>
              </a:lnSpc>
            </a:pPr>
            <a:endParaRPr lang="en-US" sz="7500">
              <a:solidFill>
                <a:srgbClr val="0070C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2645473144"/>
              </p:ext>
            </p:extLst>
          </p:nvPr>
        </p:nvGraphicFramePr>
        <p:xfrm>
          <a:off x="678656" y="5569121"/>
          <a:ext cx="16244889" cy="3929062"/>
        </p:xfrm>
        <a:graphic>
          <a:graphicData uri="http://schemas.openxmlformats.org/drawingml/2006/table">
            <a:tbl>
              <a:tblPr/>
              <a:tblGrid>
                <a:gridCol w="1092373">
                  <a:extLst>
                    <a:ext uri="{9D8B030D-6E8A-4147-A177-3AD203B41FA5}">
                      <a16:colId xmlns:a16="http://schemas.microsoft.com/office/drawing/2014/main" val="20000"/>
                    </a:ext>
                  </a:extLst>
                </a:gridCol>
                <a:gridCol w="3268239">
                  <a:extLst>
                    <a:ext uri="{9D8B030D-6E8A-4147-A177-3AD203B41FA5}">
                      <a16:colId xmlns:a16="http://schemas.microsoft.com/office/drawing/2014/main" val="20001"/>
                    </a:ext>
                  </a:extLst>
                </a:gridCol>
                <a:gridCol w="4697991">
                  <a:extLst>
                    <a:ext uri="{9D8B030D-6E8A-4147-A177-3AD203B41FA5}">
                      <a16:colId xmlns:a16="http://schemas.microsoft.com/office/drawing/2014/main" val="20002"/>
                    </a:ext>
                  </a:extLst>
                </a:gridCol>
                <a:gridCol w="1418692">
                  <a:extLst>
                    <a:ext uri="{9D8B030D-6E8A-4147-A177-3AD203B41FA5}">
                      <a16:colId xmlns:a16="http://schemas.microsoft.com/office/drawing/2014/main" val="20003"/>
                    </a:ext>
                  </a:extLst>
                </a:gridCol>
                <a:gridCol w="5767594">
                  <a:extLst>
                    <a:ext uri="{9D8B030D-6E8A-4147-A177-3AD203B41FA5}">
                      <a16:colId xmlns:a16="http://schemas.microsoft.com/office/drawing/2014/main" val="20004"/>
                    </a:ext>
                  </a:extLst>
                </a:gridCol>
              </a:tblGrid>
              <a:tr h="753388">
                <a:tc>
                  <a:txBody>
                    <a:bodyPr/>
                    <a:lstStyle/>
                    <a:p>
                      <a:pPr algn="ctr">
                        <a:lnSpc>
                          <a:spcPts val="3240"/>
                        </a:lnSpc>
                        <a:defRPr/>
                      </a:pPr>
                      <a:r>
                        <a:rPr lang="en-US" sz="2700">
                          <a:solidFill>
                            <a:srgbClr val="000000"/>
                          </a:solidFill>
                          <a:latin typeface="Arial"/>
                          <a:ea typeface="Arial"/>
                          <a:cs typeface="Arial"/>
                          <a:sym typeface="Arial"/>
                        </a:rPr>
                        <a:t>STT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240"/>
                        </a:lnSpc>
                        <a:defRPr/>
                      </a:pPr>
                      <a:r>
                        <a:rPr lang="en-US" sz="2700">
                          <a:solidFill>
                            <a:srgbClr val="000000"/>
                          </a:solidFill>
                          <a:latin typeface="Arial"/>
                          <a:ea typeface="Arial"/>
                          <a:cs typeface="Arial"/>
                          <a:sym typeface="Arial"/>
                        </a:rPr>
                        <a:t>Họ và Tên</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240"/>
                        </a:lnSpc>
                        <a:defRPr/>
                      </a:pPr>
                      <a:r>
                        <a:rPr lang="en-US" sz="2700">
                          <a:solidFill>
                            <a:srgbClr val="000000"/>
                          </a:solidFill>
                          <a:latin typeface="Arial"/>
                          <a:ea typeface="Arial"/>
                          <a:cs typeface="Arial"/>
                          <a:sym typeface="Arial"/>
                        </a:rPr>
                        <a:t>Trường</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240"/>
                        </a:lnSpc>
                        <a:defRPr/>
                      </a:pPr>
                      <a:r>
                        <a:rPr lang="en-US" sz="2700">
                          <a:solidFill>
                            <a:srgbClr val="000000"/>
                          </a:solidFill>
                          <a:latin typeface="Arial"/>
                          <a:ea typeface="Arial"/>
                          <a:cs typeface="Arial"/>
                          <a:sym typeface="Arial"/>
                        </a:rPr>
                        <a:t>Lớp</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3240"/>
                        </a:lnSpc>
                        <a:defRPr/>
                      </a:pPr>
                      <a:r>
                        <a:rPr lang="en-US" sz="2700">
                          <a:solidFill>
                            <a:srgbClr val="000000"/>
                          </a:solidFill>
                          <a:latin typeface="Arial"/>
                          <a:ea typeface="Arial"/>
                          <a:cs typeface="Arial"/>
                          <a:sym typeface="Arial"/>
                        </a:rPr>
                        <a:t>Vai trò trong đội</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58558">
                <a:tc>
                  <a:txBody>
                    <a:bodyPr/>
                    <a:lstStyle/>
                    <a:p>
                      <a:pPr algn="ctr">
                        <a:lnSpc>
                          <a:spcPts val="3240"/>
                        </a:lnSpc>
                        <a:defRPr/>
                      </a:pPr>
                      <a:r>
                        <a:rPr lang="en-US" sz="2700">
                          <a:solidFill>
                            <a:srgbClr val="000000"/>
                          </a:solidFill>
                          <a:latin typeface="Arial"/>
                          <a:ea typeface="Arial"/>
                          <a:cs typeface="Arial"/>
                          <a:sym typeface="Arial"/>
                        </a:rPr>
                        <a:t>1</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760"/>
                        </a:lnSpc>
                        <a:defRPr/>
                      </a:pPr>
                      <a:r>
                        <a:rPr lang="en-US" sz="2300" dirty="0">
                          <a:solidFill>
                            <a:srgbClr val="0070C0"/>
                          </a:solidFill>
                          <a:latin typeface="Arial"/>
                          <a:ea typeface="Arial"/>
                          <a:cs typeface="Arial"/>
                          <a:sym typeface="Arial"/>
                        </a:rPr>
                        <a:t>Nguyễn Đức Duy</a:t>
                      </a:r>
                      <a:endParaRPr lang="en-US" sz="1100" dirty="0">
                        <a:solidFill>
                          <a:srgbClr val="0070C0"/>
                        </a:solidFill>
                      </a:endParaRPr>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3220"/>
                        </a:lnSpc>
                        <a:defRPr/>
                      </a:pPr>
                      <a:r>
                        <a:rPr lang="en-US" sz="2300" dirty="0">
                          <a:solidFill>
                            <a:srgbClr val="0070C0"/>
                          </a:solidFill>
                          <a:latin typeface="Arial"/>
                          <a:ea typeface="Arial"/>
                          <a:cs typeface="Arial"/>
                          <a:sym typeface="Arial"/>
                        </a:rPr>
                        <a:t>Trường TH, THCS </a:t>
                      </a:r>
                      <a:r>
                        <a:rPr lang="en-US" sz="2300" dirty="0" err="1">
                          <a:solidFill>
                            <a:srgbClr val="0070C0"/>
                          </a:solidFill>
                          <a:latin typeface="Arial"/>
                          <a:ea typeface="Arial"/>
                          <a:cs typeface="Arial"/>
                          <a:sym typeface="Arial"/>
                        </a:rPr>
                        <a:t>và</a:t>
                      </a:r>
                      <a:r>
                        <a:rPr lang="en-US" sz="2300" dirty="0">
                          <a:solidFill>
                            <a:srgbClr val="0070C0"/>
                          </a:solidFill>
                          <a:latin typeface="Arial"/>
                          <a:ea typeface="Arial"/>
                          <a:cs typeface="Arial"/>
                          <a:sym typeface="Arial"/>
                        </a:rPr>
                        <a:t> THPT FPT Bắc Giang</a:t>
                      </a:r>
                      <a:endParaRPr lang="en-US" sz="1100" dirty="0">
                        <a:solidFill>
                          <a:srgbClr val="0070C0"/>
                        </a:solidFill>
                      </a:endParaRPr>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3220"/>
                        </a:lnSpc>
                        <a:defRPr/>
                      </a:pPr>
                      <a:r>
                        <a:rPr lang="en-US" sz="2300">
                          <a:solidFill>
                            <a:srgbClr val="0070C0"/>
                          </a:solidFill>
                          <a:latin typeface="Arial"/>
                          <a:ea typeface="Arial"/>
                          <a:cs typeface="Arial"/>
                          <a:sym typeface="Arial"/>
                        </a:rPr>
                        <a:t>7A1</a:t>
                      </a:r>
                      <a:endParaRPr lang="en-US" sz="1100">
                        <a:solidFill>
                          <a:srgbClr val="0070C0"/>
                        </a:solidFill>
                      </a:endParaRPr>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3080"/>
                        </a:lnSpc>
                        <a:defRPr/>
                      </a:pPr>
                      <a:r>
                        <a:rPr lang="en-US" sz="2200">
                          <a:solidFill>
                            <a:srgbClr val="0070C0"/>
                          </a:solidFill>
                          <a:latin typeface="Arimo"/>
                          <a:ea typeface="Arimo"/>
                          <a:cs typeface="Arimo"/>
                          <a:sym typeface="Arimo"/>
                        </a:rPr>
                        <a:t>Leader – Product Manager (Trưởng nhóm, quản lý dự án và phát triển sản phẩm)</a:t>
                      </a:r>
                      <a:endParaRPr lang="en-US" sz="1100">
                        <a:solidFill>
                          <a:srgbClr val="0070C0"/>
                        </a:solidFill>
                      </a:endParaRPr>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58558">
                <a:tc>
                  <a:txBody>
                    <a:bodyPr/>
                    <a:lstStyle/>
                    <a:p>
                      <a:pPr algn="ctr">
                        <a:lnSpc>
                          <a:spcPts val="3240"/>
                        </a:lnSpc>
                        <a:defRPr/>
                      </a:pPr>
                      <a:r>
                        <a:rPr lang="en-US" sz="2700">
                          <a:solidFill>
                            <a:srgbClr val="000000"/>
                          </a:solidFill>
                          <a:latin typeface="Arial"/>
                          <a:ea typeface="Arial"/>
                          <a:cs typeface="Arial"/>
                          <a:sym typeface="Arial"/>
                        </a:rPr>
                        <a:t>2</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3220"/>
                        </a:lnSpc>
                        <a:defRPr/>
                      </a:pPr>
                      <a:r>
                        <a:rPr lang="en-US" sz="2300">
                          <a:solidFill>
                            <a:srgbClr val="0070C0"/>
                          </a:solidFill>
                          <a:latin typeface="Arial"/>
                          <a:ea typeface="Arial"/>
                          <a:cs typeface="Arial"/>
                          <a:sym typeface="Arial"/>
                        </a:rPr>
                        <a:t>Đoàn Tùng Lâm</a:t>
                      </a:r>
                      <a:endParaRPr lang="en-US" sz="1100">
                        <a:solidFill>
                          <a:srgbClr val="0070C0"/>
                        </a:solidFill>
                      </a:endParaRPr>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3220"/>
                        </a:lnSpc>
                        <a:defRPr/>
                      </a:pPr>
                      <a:r>
                        <a:rPr lang="en-US" sz="2300">
                          <a:solidFill>
                            <a:srgbClr val="0070C0"/>
                          </a:solidFill>
                          <a:latin typeface="Arial"/>
                          <a:ea typeface="Arial"/>
                          <a:cs typeface="Arial"/>
                          <a:sym typeface="Arial"/>
                        </a:rPr>
                        <a:t>Trường TH, THCS và THPT FPT Bắc Giang</a:t>
                      </a:r>
                      <a:endParaRPr lang="en-US" sz="1100">
                        <a:solidFill>
                          <a:srgbClr val="0070C0"/>
                        </a:solidFill>
                      </a:endParaRPr>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3220"/>
                        </a:lnSpc>
                        <a:defRPr/>
                      </a:pPr>
                      <a:r>
                        <a:rPr lang="en-US" sz="2300" dirty="0">
                          <a:solidFill>
                            <a:srgbClr val="0070C0"/>
                          </a:solidFill>
                          <a:latin typeface="Arial"/>
                          <a:ea typeface="Arial"/>
                          <a:cs typeface="Arial"/>
                          <a:sym typeface="Arial"/>
                        </a:rPr>
                        <a:t>7A1</a:t>
                      </a:r>
                      <a:endParaRPr lang="en-US" sz="1100" dirty="0">
                        <a:solidFill>
                          <a:srgbClr val="0070C0"/>
                        </a:solidFill>
                      </a:endParaRPr>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3080"/>
                        </a:lnSpc>
                        <a:defRPr/>
                      </a:pPr>
                      <a:r>
                        <a:rPr lang="en-US" sz="2200" dirty="0">
                          <a:solidFill>
                            <a:srgbClr val="0070C0"/>
                          </a:solidFill>
                          <a:latin typeface="Arimo"/>
                          <a:ea typeface="Arimo"/>
                          <a:cs typeface="Arimo"/>
                          <a:sym typeface="Arimo"/>
                        </a:rPr>
                        <a:t>AI &amp; Technology Developer (</a:t>
                      </a:r>
                      <a:r>
                        <a:rPr lang="en-US" sz="2200" dirty="0" err="1">
                          <a:solidFill>
                            <a:srgbClr val="0070C0"/>
                          </a:solidFill>
                          <a:latin typeface="Arimo"/>
                          <a:ea typeface="Arimo"/>
                          <a:cs typeface="Arimo"/>
                          <a:sym typeface="Arimo"/>
                        </a:rPr>
                        <a:t>Phụ</a:t>
                      </a:r>
                      <a:r>
                        <a:rPr lang="en-US" sz="2200" dirty="0">
                          <a:solidFill>
                            <a:srgbClr val="0070C0"/>
                          </a:solidFill>
                          <a:latin typeface="Arimo"/>
                          <a:ea typeface="Arimo"/>
                          <a:cs typeface="Arimo"/>
                          <a:sym typeface="Arimo"/>
                        </a:rPr>
                        <a:t> </a:t>
                      </a:r>
                      <a:r>
                        <a:rPr lang="en-US" sz="2200" dirty="0" err="1">
                          <a:solidFill>
                            <a:srgbClr val="0070C0"/>
                          </a:solidFill>
                          <a:latin typeface="Arimo"/>
                          <a:ea typeface="Arimo"/>
                          <a:cs typeface="Arimo"/>
                          <a:sym typeface="Arimo"/>
                        </a:rPr>
                        <a:t>trách</a:t>
                      </a:r>
                      <a:r>
                        <a:rPr lang="en-US" sz="2200" dirty="0">
                          <a:solidFill>
                            <a:srgbClr val="0070C0"/>
                          </a:solidFill>
                          <a:latin typeface="Arimo"/>
                          <a:ea typeface="Arimo"/>
                          <a:cs typeface="Arimo"/>
                          <a:sym typeface="Arimo"/>
                        </a:rPr>
                        <a:t> </a:t>
                      </a:r>
                      <a:r>
                        <a:rPr lang="en-US" sz="2200" dirty="0" err="1">
                          <a:solidFill>
                            <a:srgbClr val="0070C0"/>
                          </a:solidFill>
                          <a:latin typeface="Arimo"/>
                          <a:ea typeface="Arimo"/>
                          <a:cs typeface="Arimo"/>
                          <a:sym typeface="Arimo"/>
                        </a:rPr>
                        <a:t>công</a:t>
                      </a:r>
                      <a:r>
                        <a:rPr lang="en-US" sz="2200" dirty="0">
                          <a:solidFill>
                            <a:srgbClr val="0070C0"/>
                          </a:solidFill>
                          <a:latin typeface="Arimo"/>
                          <a:ea typeface="Arimo"/>
                          <a:cs typeface="Arimo"/>
                          <a:sym typeface="Arimo"/>
                        </a:rPr>
                        <a:t> </a:t>
                      </a:r>
                      <a:r>
                        <a:rPr lang="en-US" sz="2200" dirty="0" err="1">
                          <a:solidFill>
                            <a:srgbClr val="0070C0"/>
                          </a:solidFill>
                          <a:latin typeface="Arimo"/>
                          <a:ea typeface="Arimo"/>
                          <a:cs typeface="Arimo"/>
                          <a:sym typeface="Arimo"/>
                        </a:rPr>
                        <a:t>nghệ</a:t>
                      </a:r>
                      <a:r>
                        <a:rPr lang="en-US" sz="2200" dirty="0">
                          <a:solidFill>
                            <a:srgbClr val="0070C0"/>
                          </a:solidFill>
                          <a:latin typeface="Arimo"/>
                          <a:ea typeface="Arimo"/>
                          <a:cs typeface="Arimo"/>
                          <a:sym typeface="Arimo"/>
                        </a:rPr>
                        <a:t> </a:t>
                      </a:r>
                      <a:r>
                        <a:rPr lang="en-US" sz="2200" dirty="0" err="1">
                          <a:solidFill>
                            <a:srgbClr val="0070C0"/>
                          </a:solidFill>
                          <a:latin typeface="Arimo"/>
                          <a:ea typeface="Arimo"/>
                          <a:cs typeface="Arimo"/>
                          <a:sym typeface="Arimo"/>
                        </a:rPr>
                        <a:t>và</a:t>
                      </a:r>
                      <a:r>
                        <a:rPr lang="en-US" sz="2200" dirty="0">
                          <a:solidFill>
                            <a:srgbClr val="0070C0"/>
                          </a:solidFill>
                          <a:latin typeface="Arimo"/>
                          <a:ea typeface="Arimo"/>
                          <a:cs typeface="Arimo"/>
                          <a:sym typeface="Arimo"/>
                        </a:rPr>
                        <a:t> </a:t>
                      </a:r>
                      <a:r>
                        <a:rPr lang="en-US" sz="2200" dirty="0" err="1">
                          <a:solidFill>
                            <a:srgbClr val="0070C0"/>
                          </a:solidFill>
                          <a:latin typeface="Arimo"/>
                          <a:ea typeface="Arimo"/>
                          <a:cs typeface="Arimo"/>
                          <a:sym typeface="Arimo"/>
                        </a:rPr>
                        <a:t>phát</a:t>
                      </a:r>
                      <a:r>
                        <a:rPr lang="en-US" sz="2200" dirty="0">
                          <a:solidFill>
                            <a:srgbClr val="0070C0"/>
                          </a:solidFill>
                          <a:latin typeface="Arimo"/>
                          <a:ea typeface="Arimo"/>
                          <a:cs typeface="Arimo"/>
                          <a:sym typeface="Arimo"/>
                        </a:rPr>
                        <a:t> </a:t>
                      </a:r>
                      <a:r>
                        <a:rPr lang="en-US" sz="2200" dirty="0" err="1">
                          <a:solidFill>
                            <a:srgbClr val="0070C0"/>
                          </a:solidFill>
                          <a:latin typeface="Arimo"/>
                          <a:ea typeface="Arimo"/>
                          <a:cs typeface="Arimo"/>
                          <a:sym typeface="Arimo"/>
                        </a:rPr>
                        <a:t>triển</a:t>
                      </a:r>
                      <a:r>
                        <a:rPr lang="en-US" sz="2200" dirty="0">
                          <a:solidFill>
                            <a:srgbClr val="0070C0"/>
                          </a:solidFill>
                          <a:latin typeface="Arimo"/>
                          <a:ea typeface="Arimo"/>
                          <a:cs typeface="Arimo"/>
                          <a:sym typeface="Arimo"/>
                        </a:rPr>
                        <a:t> AI)</a:t>
                      </a:r>
                      <a:endParaRPr lang="en-US" sz="1100" dirty="0">
                        <a:solidFill>
                          <a:srgbClr val="0070C0"/>
                        </a:solidFill>
                      </a:endParaRPr>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58558">
                <a:tc>
                  <a:txBody>
                    <a:bodyPr/>
                    <a:lstStyle/>
                    <a:p>
                      <a:pPr algn="ctr">
                        <a:lnSpc>
                          <a:spcPts val="3240"/>
                        </a:lnSpc>
                        <a:defRPr/>
                      </a:pPr>
                      <a:r>
                        <a:rPr lang="en-US" sz="2700">
                          <a:solidFill>
                            <a:srgbClr val="000000"/>
                          </a:solidFill>
                          <a:latin typeface="Arial"/>
                          <a:ea typeface="Arial"/>
                          <a:cs typeface="Arial"/>
                          <a:sym typeface="Arial"/>
                        </a:rPr>
                        <a:t>3</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3220"/>
                        </a:lnSpc>
                        <a:defRPr/>
                      </a:pPr>
                      <a:r>
                        <a:rPr lang="en-US" sz="2300">
                          <a:solidFill>
                            <a:srgbClr val="0070C0"/>
                          </a:solidFill>
                          <a:latin typeface="Arial"/>
                          <a:ea typeface="Arial"/>
                          <a:cs typeface="Arial"/>
                          <a:sym typeface="Arial"/>
                        </a:rPr>
                        <a:t>Dương Nhật Long</a:t>
                      </a:r>
                      <a:endParaRPr lang="en-US" sz="1100">
                        <a:solidFill>
                          <a:srgbClr val="0070C0"/>
                        </a:solidFill>
                      </a:endParaRPr>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3220"/>
                        </a:lnSpc>
                        <a:defRPr/>
                      </a:pPr>
                      <a:r>
                        <a:rPr lang="en-US" sz="2300">
                          <a:solidFill>
                            <a:srgbClr val="0070C0"/>
                          </a:solidFill>
                          <a:latin typeface="Arial"/>
                          <a:ea typeface="Arial"/>
                          <a:cs typeface="Arial"/>
                          <a:sym typeface="Arial"/>
                        </a:rPr>
                        <a:t>Trường TH, THCS và THPT FPT Bắc Giang</a:t>
                      </a:r>
                      <a:endParaRPr lang="en-US" sz="1100">
                        <a:solidFill>
                          <a:srgbClr val="0070C0"/>
                        </a:solidFill>
                      </a:endParaRPr>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3220"/>
                        </a:lnSpc>
                        <a:defRPr/>
                      </a:pPr>
                      <a:r>
                        <a:rPr lang="en-US" sz="2300">
                          <a:solidFill>
                            <a:srgbClr val="0070C0"/>
                          </a:solidFill>
                          <a:latin typeface="Arial"/>
                          <a:ea typeface="Arial"/>
                          <a:cs typeface="Arial"/>
                          <a:sym typeface="Arial"/>
                        </a:rPr>
                        <a:t>7A1</a:t>
                      </a:r>
                      <a:endParaRPr lang="en-US" sz="1100">
                        <a:solidFill>
                          <a:srgbClr val="0070C0"/>
                        </a:solidFill>
                      </a:endParaRPr>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3080"/>
                        </a:lnSpc>
                        <a:defRPr/>
                      </a:pPr>
                      <a:r>
                        <a:rPr lang="en-US" sz="2200" dirty="0">
                          <a:solidFill>
                            <a:srgbClr val="0070C0"/>
                          </a:solidFill>
                          <a:latin typeface="Arimo"/>
                          <a:ea typeface="Arimo"/>
                          <a:cs typeface="Arimo"/>
                          <a:sym typeface="Arimo"/>
                        </a:rPr>
                        <a:t>Research &amp; Communication Leader (</a:t>
                      </a:r>
                      <a:r>
                        <a:rPr lang="en-US" sz="2200" dirty="0" err="1">
                          <a:solidFill>
                            <a:srgbClr val="0070C0"/>
                          </a:solidFill>
                          <a:latin typeface="Arimo"/>
                          <a:ea typeface="Arimo"/>
                          <a:cs typeface="Arimo"/>
                          <a:sym typeface="Arimo"/>
                        </a:rPr>
                        <a:t>Phụ</a:t>
                      </a:r>
                      <a:r>
                        <a:rPr lang="en-US" sz="2200" dirty="0">
                          <a:solidFill>
                            <a:srgbClr val="0070C0"/>
                          </a:solidFill>
                          <a:latin typeface="Arimo"/>
                          <a:ea typeface="Arimo"/>
                          <a:cs typeface="Arimo"/>
                          <a:sym typeface="Arimo"/>
                        </a:rPr>
                        <a:t> </a:t>
                      </a:r>
                      <a:r>
                        <a:rPr lang="en-US" sz="2200" dirty="0" err="1">
                          <a:solidFill>
                            <a:srgbClr val="0070C0"/>
                          </a:solidFill>
                          <a:latin typeface="Arimo"/>
                          <a:ea typeface="Arimo"/>
                          <a:cs typeface="Arimo"/>
                          <a:sym typeface="Arimo"/>
                        </a:rPr>
                        <a:t>trách</a:t>
                      </a:r>
                      <a:r>
                        <a:rPr lang="en-US" sz="2200" dirty="0">
                          <a:solidFill>
                            <a:srgbClr val="0070C0"/>
                          </a:solidFill>
                          <a:latin typeface="Arimo"/>
                          <a:ea typeface="Arimo"/>
                          <a:cs typeface="Arimo"/>
                          <a:sym typeface="Arimo"/>
                        </a:rPr>
                        <a:t> </a:t>
                      </a:r>
                      <a:r>
                        <a:rPr lang="en-US" sz="2200" dirty="0" err="1">
                          <a:solidFill>
                            <a:srgbClr val="0070C0"/>
                          </a:solidFill>
                          <a:latin typeface="Arimo"/>
                          <a:ea typeface="Arimo"/>
                          <a:cs typeface="Arimo"/>
                          <a:sym typeface="Arimo"/>
                        </a:rPr>
                        <a:t>nghiên</a:t>
                      </a:r>
                      <a:r>
                        <a:rPr lang="en-US" sz="2200" dirty="0">
                          <a:solidFill>
                            <a:srgbClr val="0070C0"/>
                          </a:solidFill>
                          <a:latin typeface="Arimo"/>
                          <a:ea typeface="Arimo"/>
                          <a:cs typeface="Arimo"/>
                          <a:sym typeface="Arimo"/>
                        </a:rPr>
                        <a:t> </a:t>
                      </a:r>
                      <a:r>
                        <a:rPr lang="en-US" sz="2200" dirty="0" err="1">
                          <a:solidFill>
                            <a:srgbClr val="0070C0"/>
                          </a:solidFill>
                          <a:latin typeface="Arimo"/>
                          <a:ea typeface="Arimo"/>
                          <a:cs typeface="Arimo"/>
                          <a:sym typeface="Arimo"/>
                        </a:rPr>
                        <a:t>cứu</a:t>
                      </a:r>
                      <a:r>
                        <a:rPr lang="en-US" sz="2200" dirty="0">
                          <a:solidFill>
                            <a:srgbClr val="0070C0"/>
                          </a:solidFill>
                          <a:latin typeface="Arimo"/>
                          <a:ea typeface="Arimo"/>
                          <a:cs typeface="Arimo"/>
                          <a:sym typeface="Arimo"/>
                        </a:rPr>
                        <a:t>, </a:t>
                      </a:r>
                      <a:r>
                        <a:rPr lang="en-US" sz="2200" dirty="0" err="1">
                          <a:solidFill>
                            <a:srgbClr val="0070C0"/>
                          </a:solidFill>
                          <a:latin typeface="Arimo"/>
                          <a:ea typeface="Arimo"/>
                          <a:cs typeface="Arimo"/>
                          <a:sym typeface="Arimo"/>
                        </a:rPr>
                        <a:t>khảo</a:t>
                      </a:r>
                      <a:r>
                        <a:rPr lang="en-US" sz="2200" dirty="0">
                          <a:solidFill>
                            <a:srgbClr val="0070C0"/>
                          </a:solidFill>
                          <a:latin typeface="Arimo"/>
                          <a:ea typeface="Arimo"/>
                          <a:cs typeface="Arimo"/>
                          <a:sym typeface="Arimo"/>
                        </a:rPr>
                        <a:t> </a:t>
                      </a:r>
                      <a:r>
                        <a:rPr lang="en-US" sz="2200" dirty="0" err="1">
                          <a:solidFill>
                            <a:srgbClr val="0070C0"/>
                          </a:solidFill>
                          <a:latin typeface="Arimo"/>
                          <a:ea typeface="Arimo"/>
                          <a:cs typeface="Arimo"/>
                          <a:sym typeface="Arimo"/>
                        </a:rPr>
                        <a:t>sát</a:t>
                      </a:r>
                      <a:r>
                        <a:rPr lang="en-US" sz="2200" dirty="0">
                          <a:solidFill>
                            <a:srgbClr val="0070C0"/>
                          </a:solidFill>
                          <a:latin typeface="Arimo"/>
                          <a:ea typeface="Arimo"/>
                          <a:cs typeface="Arimo"/>
                          <a:sym typeface="Arimo"/>
                        </a:rPr>
                        <a:t> </a:t>
                      </a:r>
                      <a:r>
                        <a:rPr lang="en-US" sz="2200" dirty="0" err="1">
                          <a:solidFill>
                            <a:srgbClr val="0070C0"/>
                          </a:solidFill>
                          <a:latin typeface="Arimo"/>
                          <a:ea typeface="Arimo"/>
                          <a:cs typeface="Arimo"/>
                          <a:sym typeface="Arimo"/>
                        </a:rPr>
                        <a:t>và</a:t>
                      </a:r>
                      <a:r>
                        <a:rPr lang="en-US" sz="2200" dirty="0">
                          <a:solidFill>
                            <a:srgbClr val="0070C0"/>
                          </a:solidFill>
                          <a:latin typeface="Arimo"/>
                          <a:ea typeface="Arimo"/>
                          <a:cs typeface="Arimo"/>
                          <a:sym typeface="Arimo"/>
                        </a:rPr>
                        <a:t> </a:t>
                      </a:r>
                      <a:r>
                        <a:rPr lang="en-US" sz="2200" dirty="0" err="1">
                          <a:solidFill>
                            <a:srgbClr val="0070C0"/>
                          </a:solidFill>
                          <a:latin typeface="Arimo"/>
                          <a:ea typeface="Arimo"/>
                          <a:cs typeface="Arimo"/>
                          <a:sym typeface="Arimo"/>
                        </a:rPr>
                        <a:t>truyền</a:t>
                      </a:r>
                      <a:r>
                        <a:rPr lang="en-US" sz="2200" dirty="0">
                          <a:solidFill>
                            <a:srgbClr val="0070C0"/>
                          </a:solidFill>
                          <a:latin typeface="Arimo"/>
                          <a:ea typeface="Arimo"/>
                          <a:cs typeface="Arimo"/>
                          <a:sym typeface="Arimo"/>
                        </a:rPr>
                        <a:t> </a:t>
                      </a:r>
                      <a:r>
                        <a:rPr lang="en-US" sz="2200" dirty="0" err="1">
                          <a:solidFill>
                            <a:srgbClr val="0070C0"/>
                          </a:solidFill>
                          <a:latin typeface="Arimo"/>
                          <a:ea typeface="Arimo"/>
                          <a:cs typeface="Arimo"/>
                          <a:sym typeface="Arimo"/>
                        </a:rPr>
                        <a:t>thông</a:t>
                      </a:r>
                      <a:r>
                        <a:rPr lang="en-US" sz="2200" dirty="0">
                          <a:solidFill>
                            <a:srgbClr val="0070C0"/>
                          </a:solidFill>
                          <a:latin typeface="Arimo"/>
                          <a:ea typeface="Arimo"/>
                          <a:cs typeface="Arimo"/>
                          <a:sym typeface="Arimo"/>
                        </a:rPr>
                        <a:t>)</a:t>
                      </a:r>
                      <a:endParaRPr lang="en-US" sz="1100" dirty="0">
                        <a:solidFill>
                          <a:srgbClr val="0070C0"/>
                        </a:solidFill>
                      </a:endParaRPr>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pSp>
        <p:nvGrpSpPr>
          <p:cNvPr id="3" name="Group 3"/>
          <p:cNvGrpSpPr/>
          <p:nvPr/>
        </p:nvGrpSpPr>
        <p:grpSpPr>
          <a:xfrm>
            <a:off x="678656" y="3052629"/>
            <a:ext cx="16244888" cy="1876012"/>
            <a:chOff x="0" y="0"/>
            <a:chExt cx="21659850" cy="2501349"/>
          </a:xfrm>
        </p:grpSpPr>
        <p:sp>
          <p:nvSpPr>
            <p:cNvPr id="4" name="Freeform 4"/>
            <p:cNvSpPr/>
            <p:nvPr/>
          </p:nvSpPr>
          <p:spPr>
            <a:xfrm>
              <a:off x="0" y="0"/>
              <a:ext cx="21659850" cy="2501349"/>
            </a:xfrm>
            <a:custGeom>
              <a:avLst/>
              <a:gdLst/>
              <a:ahLst/>
              <a:cxnLst/>
              <a:rect l="l" t="t" r="r" b="b"/>
              <a:pathLst>
                <a:path w="21659850" h="2501349">
                  <a:moveTo>
                    <a:pt x="0" y="0"/>
                  </a:moveTo>
                  <a:lnTo>
                    <a:pt x="21659850" y="0"/>
                  </a:lnTo>
                  <a:lnTo>
                    <a:pt x="21659850" y="2501349"/>
                  </a:lnTo>
                  <a:lnTo>
                    <a:pt x="0" y="2501349"/>
                  </a:lnTo>
                  <a:close/>
                </a:path>
              </a:pathLst>
            </a:custGeom>
            <a:blipFill>
              <a:blip r:embed="rId2">
                <a:alphaModFix amt="0"/>
              </a:blip>
              <a:stretch>
                <a:fillRect t="-119603" b="-117848"/>
              </a:stretch>
            </a:blipFill>
            <a:ln w="14288" cap="sq">
              <a:solidFill>
                <a:srgbClr val="D9D9D9"/>
              </a:solidFill>
              <a:prstDash val="solid"/>
              <a:miter/>
            </a:ln>
          </p:spPr>
          <p:txBody>
            <a:bodyPr/>
            <a:lstStyle/>
            <a:p>
              <a:endParaRPr lang="en-US"/>
            </a:p>
          </p:txBody>
        </p:sp>
        <p:sp>
          <p:nvSpPr>
            <p:cNvPr id="5" name="TextBox 5"/>
            <p:cNvSpPr txBox="1"/>
            <p:nvPr/>
          </p:nvSpPr>
          <p:spPr>
            <a:xfrm>
              <a:off x="0" y="-171450"/>
              <a:ext cx="21659850" cy="2672799"/>
            </a:xfrm>
            <a:prstGeom prst="rect">
              <a:avLst/>
            </a:prstGeom>
          </p:spPr>
          <p:txBody>
            <a:bodyPr lIns="50800" tIns="50800" rIns="50800" bIns="50800" rtlCol="0" anchor="ctr"/>
            <a:lstStyle/>
            <a:p>
              <a:pPr algn="l">
                <a:lnSpc>
                  <a:spcPts val="4860"/>
                </a:lnSpc>
              </a:pPr>
              <a:r>
                <a:rPr lang="en-US" sz="2700" dirty="0" err="1">
                  <a:solidFill>
                    <a:srgbClr val="000000"/>
                  </a:solidFill>
                  <a:latin typeface="Arial"/>
                  <a:ea typeface="Arial"/>
                  <a:cs typeface="Arial"/>
                  <a:sym typeface="Arial"/>
                </a:rPr>
                <a:t>Đội</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thi</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AIMedic</a:t>
              </a:r>
              <a:endParaRPr lang="en-US" sz="2700" dirty="0">
                <a:solidFill>
                  <a:srgbClr val="000000"/>
                </a:solidFill>
                <a:latin typeface="Arial"/>
                <a:ea typeface="Arial"/>
                <a:cs typeface="Arial"/>
                <a:sym typeface="Arial"/>
              </a:endParaRPr>
            </a:p>
            <a:p>
              <a:pPr algn="l">
                <a:lnSpc>
                  <a:spcPts val="4860"/>
                </a:lnSpc>
              </a:pPr>
              <a:r>
                <a:rPr lang="en-US" sz="2700" dirty="0" err="1">
                  <a:solidFill>
                    <a:srgbClr val="000000"/>
                  </a:solidFill>
                  <a:latin typeface="Arial"/>
                  <a:ea typeface="Arial"/>
                  <a:cs typeface="Arial"/>
                  <a:sym typeface="Arial"/>
                </a:rPr>
                <a:t>Giáo</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viên</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hướng</a:t>
              </a:r>
              <a:r>
                <a:rPr lang="en-US" sz="2700" dirty="0">
                  <a:solidFill>
                    <a:srgbClr val="000000"/>
                  </a:solidFill>
                  <a:latin typeface="Arial"/>
                  <a:ea typeface="Arial"/>
                  <a:cs typeface="Arial"/>
                  <a:sym typeface="Arial"/>
                </a:rPr>
                <a:t> </a:t>
              </a:r>
              <a:r>
                <a:rPr lang="en-US" sz="2700" dirty="0" err="1">
                  <a:solidFill>
                    <a:srgbClr val="000000"/>
                  </a:solidFill>
                  <a:latin typeface="Arial"/>
                  <a:ea typeface="Arial"/>
                  <a:cs typeface="Arial"/>
                  <a:sym typeface="Arial"/>
                </a:rPr>
                <a:t>dẫn</a:t>
              </a:r>
              <a:r>
                <a:rPr lang="en-US" sz="2700" dirty="0">
                  <a:solidFill>
                    <a:srgbClr val="000000"/>
                  </a:solidFill>
                  <a:latin typeface="Arial"/>
                  <a:ea typeface="Arial"/>
                  <a:cs typeface="Arial"/>
                  <a:sym typeface="Arial"/>
                </a:rPr>
                <a:t>: </a:t>
              </a:r>
              <a:r>
                <a:rPr lang="en-US" sz="2700" dirty="0" err="1">
                  <a:solidFill>
                    <a:srgbClr val="0070C0"/>
                  </a:solidFill>
                  <a:latin typeface="Arial"/>
                  <a:ea typeface="Arial"/>
                  <a:cs typeface="Arial"/>
                  <a:sym typeface="Arial"/>
                </a:rPr>
                <a:t>Từ</a:t>
              </a:r>
              <a:r>
                <a:rPr lang="en-US" sz="2700" dirty="0">
                  <a:solidFill>
                    <a:srgbClr val="0070C0"/>
                  </a:solidFill>
                  <a:latin typeface="Arial"/>
                  <a:ea typeface="Arial"/>
                  <a:cs typeface="Arial"/>
                  <a:sym typeface="Arial"/>
                </a:rPr>
                <a:t> Phương Anh – Trường </a:t>
              </a:r>
              <a:r>
                <a:rPr lang="en-US" sz="2700" dirty="0" err="1">
                  <a:solidFill>
                    <a:srgbClr val="0070C0"/>
                  </a:solidFill>
                  <a:latin typeface="Arial"/>
                  <a:ea typeface="Arial"/>
                  <a:cs typeface="Arial"/>
                  <a:sym typeface="Arial"/>
                </a:rPr>
                <a:t>Tiểu</a:t>
              </a:r>
              <a:r>
                <a:rPr lang="en-US" sz="2700" dirty="0">
                  <a:solidFill>
                    <a:srgbClr val="0070C0"/>
                  </a:solidFill>
                  <a:latin typeface="Arial"/>
                  <a:ea typeface="Arial"/>
                  <a:cs typeface="Arial"/>
                  <a:sym typeface="Arial"/>
                </a:rPr>
                <a:t> </a:t>
              </a:r>
              <a:r>
                <a:rPr lang="en-US" sz="2700" dirty="0" err="1">
                  <a:solidFill>
                    <a:srgbClr val="0070C0"/>
                  </a:solidFill>
                  <a:latin typeface="Arial"/>
                  <a:ea typeface="Arial"/>
                  <a:cs typeface="Arial"/>
                  <a:sym typeface="Arial"/>
                </a:rPr>
                <a:t>học</a:t>
              </a:r>
              <a:r>
                <a:rPr lang="en-US" sz="2700" dirty="0">
                  <a:solidFill>
                    <a:srgbClr val="0070C0"/>
                  </a:solidFill>
                  <a:latin typeface="Arial"/>
                  <a:ea typeface="Arial"/>
                  <a:cs typeface="Arial"/>
                  <a:sym typeface="Arial"/>
                </a:rPr>
                <a:t>, THCS </a:t>
              </a:r>
              <a:r>
                <a:rPr lang="en-US" sz="2700" dirty="0" err="1">
                  <a:solidFill>
                    <a:srgbClr val="0070C0"/>
                  </a:solidFill>
                  <a:latin typeface="Arial"/>
                  <a:ea typeface="Arial"/>
                  <a:cs typeface="Arial"/>
                  <a:sym typeface="Arial"/>
                </a:rPr>
                <a:t>và</a:t>
              </a:r>
              <a:r>
                <a:rPr lang="en-US" sz="2700" dirty="0">
                  <a:solidFill>
                    <a:srgbClr val="0070C0"/>
                  </a:solidFill>
                  <a:latin typeface="Arial"/>
                  <a:ea typeface="Arial"/>
                  <a:cs typeface="Arial"/>
                  <a:sym typeface="Arial"/>
                </a:rPr>
                <a:t> THPT FPT Bắc Giang - 0356327728 - anhtp25@fe.edu.vn</a:t>
              </a:r>
            </a:p>
          </p:txBody>
        </p:sp>
      </p:grpSp>
      <p:sp>
        <p:nvSpPr>
          <p:cNvPr id="6" name="TextBox 6"/>
          <p:cNvSpPr txBox="1"/>
          <p:nvPr/>
        </p:nvSpPr>
        <p:spPr>
          <a:xfrm>
            <a:off x="568519" y="1746828"/>
            <a:ext cx="6668033" cy="804777"/>
          </a:xfrm>
          <a:prstGeom prst="rect">
            <a:avLst/>
          </a:prstGeom>
        </p:spPr>
        <p:txBody>
          <a:bodyPr lIns="0" tIns="0" rIns="0" bIns="0" rtlCol="0" anchor="t">
            <a:spAutoFit/>
          </a:bodyPr>
          <a:lstStyle/>
          <a:p>
            <a:pPr algn="l">
              <a:lnSpc>
                <a:spcPts val="5759"/>
              </a:lnSpc>
            </a:pPr>
            <a:r>
              <a:rPr lang="en-US" sz="4800" b="1">
                <a:solidFill>
                  <a:srgbClr val="C00000"/>
                </a:solidFill>
                <a:latin typeface="Arial Bold"/>
                <a:ea typeface="Arial Bold"/>
                <a:cs typeface="Arial Bold"/>
                <a:sym typeface="Arial Bold"/>
              </a:rPr>
              <a:t>A. GIỚI THIỆU ĐỘI THI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43991" y="1140619"/>
            <a:ext cx="15000018" cy="8005762"/>
            <a:chOff x="0" y="0"/>
            <a:chExt cx="20000024" cy="10674350"/>
          </a:xfrm>
        </p:grpSpPr>
        <p:sp>
          <p:nvSpPr>
            <p:cNvPr id="3" name="Freeform 3"/>
            <p:cNvSpPr/>
            <p:nvPr/>
          </p:nvSpPr>
          <p:spPr>
            <a:xfrm>
              <a:off x="0" y="0"/>
              <a:ext cx="20000024" cy="10674350"/>
            </a:xfrm>
            <a:custGeom>
              <a:avLst/>
              <a:gdLst/>
              <a:ahLst/>
              <a:cxnLst/>
              <a:rect l="l" t="t" r="r" b="b"/>
              <a:pathLst>
                <a:path w="20000024" h="10674350">
                  <a:moveTo>
                    <a:pt x="0" y="0"/>
                  </a:moveTo>
                  <a:lnTo>
                    <a:pt x="20000024" y="0"/>
                  </a:lnTo>
                  <a:lnTo>
                    <a:pt x="20000024" y="10674350"/>
                  </a:lnTo>
                  <a:lnTo>
                    <a:pt x="0" y="10674350"/>
                  </a:lnTo>
                  <a:close/>
                </a:path>
              </a:pathLst>
            </a:custGeom>
            <a:blipFill>
              <a:blip r:embed="rId2">
                <a:alphaModFix amt="0"/>
              </a:blip>
              <a:stretch>
                <a:fillRect l="-10549" r="-26405"/>
              </a:stretch>
            </a:blipFill>
            <a:ln w="4762" cap="sq">
              <a:solidFill>
                <a:srgbClr val="D9D9D9"/>
              </a:solidFill>
              <a:prstDash val="solid"/>
              <a:miter/>
            </a:ln>
          </p:spPr>
          <p:txBody>
            <a:bodyPr/>
            <a:lstStyle/>
            <a:p>
              <a:endParaRPr lang="en-US"/>
            </a:p>
          </p:txBody>
        </p:sp>
        <p:sp>
          <p:nvSpPr>
            <p:cNvPr id="4" name="TextBox 4"/>
            <p:cNvSpPr txBox="1"/>
            <p:nvPr/>
          </p:nvSpPr>
          <p:spPr>
            <a:xfrm>
              <a:off x="0" y="-171450"/>
              <a:ext cx="20000024" cy="10845800"/>
            </a:xfrm>
            <a:prstGeom prst="rect">
              <a:avLst/>
            </a:prstGeom>
          </p:spPr>
          <p:txBody>
            <a:bodyPr lIns="50800" tIns="50800" rIns="50800" bIns="50800" rtlCol="0" anchor="t"/>
            <a:lstStyle/>
            <a:p>
              <a:pPr algn="l">
                <a:lnSpc>
                  <a:spcPts val="4860"/>
                </a:lnSpc>
              </a:pPr>
              <a:r>
                <a:rPr lang="en-US" sz="2700" dirty="0">
                  <a:solidFill>
                    <a:srgbClr val="000000"/>
                  </a:solidFill>
                  <a:latin typeface="Arial"/>
                  <a:ea typeface="Arial"/>
                  <a:cs typeface="Arial"/>
                  <a:sym typeface="Arial"/>
                </a:rPr>
                <a:t>  	</a:t>
              </a:r>
            </a:p>
            <a:p>
              <a:pPr>
                <a:lnSpc>
                  <a:spcPts val="4860"/>
                </a:lnSpc>
              </a:pPr>
              <a:r>
                <a:rPr lang="en-US" sz="2700" dirty="0">
                  <a:solidFill>
                    <a:srgbClr val="000000"/>
                  </a:solidFill>
                  <a:latin typeface="Arial"/>
                  <a:ea typeface="Arial"/>
                  <a:cs typeface="Arial"/>
                  <a:sym typeface="Arial"/>
                </a:rPr>
                <a:t>-</a:t>
              </a:r>
              <a:r>
                <a:rPr lang="en-US" sz="2700" u="sng" dirty="0">
                  <a:solidFill>
                    <a:srgbClr val="000000"/>
                  </a:solidFill>
                  <a:latin typeface="Arial"/>
                  <a:ea typeface="Arial"/>
                  <a:cs typeface="Arial"/>
                  <a:sym typeface="Arial"/>
                </a:rPr>
                <a:t> </a:t>
              </a:r>
              <a:r>
                <a:rPr lang="en-US" sz="2700" b="1" i="1" u="sng" dirty="0">
                  <a:solidFill>
                    <a:srgbClr val="000000"/>
                  </a:solidFill>
                  <a:latin typeface="Arial Italics"/>
                  <a:ea typeface="Arial Italics"/>
                  <a:cs typeface="Arial Italics"/>
                  <a:sym typeface="Arial Italics"/>
                </a:rPr>
                <a:t>Ý </a:t>
              </a:r>
              <a:r>
                <a:rPr lang="en-US" sz="2700" b="1" i="1" u="sng" dirty="0" err="1">
                  <a:solidFill>
                    <a:srgbClr val="000000"/>
                  </a:solidFill>
                  <a:latin typeface="Arial Italics"/>
                  <a:ea typeface="Arial Italics"/>
                  <a:cs typeface="Arial Italics"/>
                  <a:sym typeface="Arial Italics"/>
                </a:rPr>
                <a:t>nghĩa</a:t>
              </a:r>
              <a:r>
                <a:rPr lang="en-US" sz="2700" b="1" i="1" u="sng" dirty="0">
                  <a:solidFill>
                    <a:srgbClr val="000000"/>
                  </a:solidFill>
                  <a:latin typeface="Arial Italics"/>
                  <a:ea typeface="Arial Italics"/>
                  <a:cs typeface="Arial Italics"/>
                  <a:sym typeface="Arial Italics"/>
                </a:rPr>
                <a:t> </a:t>
              </a:r>
              <a:r>
                <a:rPr lang="en-US" sz="2700" b="1" i="1" u="sng" dirty="0" err="1">
                  <a:solidFill>
                    <a:srgbClr val="000000"/>
                  </a:solidFill>
                  <a:latin typeface="Arial Italics"/>
                  <a:ea typeface="Arial Italics"/>
                  <a:cs typeface="Arial Italics"/>
                  <a:sym typeface="Arial Italics"/>
                </a:rPr>
                <a:t>tên</a:t>
              </a:r>
              <a:r>
                <a:rPr lang="en-US" sz="2700" b="1" i="1" u="sng" dirty="0">
                  <a:solidFill>
                    <a:srgbClr val="000000"/>
                  </a:solidFill>
                  <a:latin typeface="Arial Italics"/>
                  <a:ea typeface="Arial Italics"/>
                  <a:cs typeface="Arial Italics"/>
                  <a:sym typeface="Arial Italics"/>
                </a:rPr>
                <a:t> </a:t>
              </a:r>
              <a:r>
                <a:rPr lang="en-US" sz="2700" b="1" i="1" u="sng" dirty="0" err="1">
                  <a:solidFill>
                    <a:srgbClr val="000000"/>
                  </a:solidFill>
                  <a:latin typeface="Arial Italics"/>
                  <a:ea typeface="Arial Italics"/>
                  <a:cs typeface="Arial Italics"/>
                  <a:sym typeface="Arial Italics"/>
                </a:rPr>
                <a:t>đội</a:t>
              </a:r>
              <a:r>
                <a:rPr lang="en-US" sz="2700" b="1" i="1" u="sng" dirty="0">
                  <a:solidFill>
                    <a:srgbClr val="000000"/>
                  </a:solidFill>
                  <a:latin typeface="Arial Italics"/>
                  <a:ea typeface="Arial Italics"/>
                  <a:cs typeface="Arial Italics"/>
                  <a:sym typeface="Arial Italics"/>
                </a:rPr>
                <a:t> </a:t>
              </a:r>
              <a:r>
                <a:rPr lang="en-US" sz="2700" b="1" i="1" u="sng" dirty="0" err="1">
                  <a:solidFill>
                    <a:srgbClr val="000000"/>
                  </a:solidFill>
                  <a:latin typeface="Arial Italics"/>
                  <a:ea typeface="Arial Italics"/>
                  <a:cs typeface="Arial Italics"/>
                  <a:sym typeface="Arial Italics"/>
                </a:rPr>
                <a:t>thi</a:t>
              </a:r>
              <a:r>
                <a:rPr lang="en-US" sz="2700" b="1" i="1" u="sng" dirty="0">
                  <a:solidFill>
                    <a:srgbClr val="000000"/>
                  </a:solidFill>
                  <a:latin typeface="Arial Italics"/>
                  <a:ea typeface="Arial Italics"/>
                  <a:cs typeface="Arial Italics"/>
                  <a:sym typeface="Arial Italics"/>
                </a:rPr>
                <a:t>: </a:t>
              </a:r>
              <a:r>
                <a:rPr lang="en-US" sz="2800" dirty="0" err="1">
                  <a:latin typeface="Arial Italics" panose="020B0604020202020204" charset="0"/>
                  <a:cs typeface="Arial Italics" panose="020B0604020202020204" charset="0"/>
                </a:rPr>
                <a:t>AIMedic</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là</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tên</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đội</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được</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kết</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hợp</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từ</a:t>
              </a:r>
              <a:r>
                <a:rPr lang="en-US" sz="2800" dirty="0">
                  <a:latin typeface="Arial Italics" panose="020B0604020202020204" charset="0"/>
                  <a:cs typeface="Arial Italics" panose="020B0604020202020204" charset="0"/>
                </a:rPr>
                <a:t> “AI” </a:t>
              </a:r>
              <a:r>
                <a:rPr lang="en-US" sz="2800" dirty="0" err="1">
                  <a:latin typeface="Arial Italics" panose="020B0604020202020204" charset="0"/>
                  <a:cs typeface="Arial Italics" panose="020B0604020202020204" charset="0"/>
                </a:rPr>
                <a:t>và</a:t>
              </a:r>
              <a:r>
                <a:rPr lang="en-US" sz="2800" dirty="0">
                  <a:latin typeface="Arial Italics" panose="020B0604020202020204" charset="0"/>
                  <a:cs typeface="Arial Italics" panose="020B0604020202020204" charset="0"/>
                </a:rPr>
                <a:t> “Medic”, </a:t>
              </a:r>
              <a:r>
                <a:rPr lang="en-US" sz="2800" dirty="0" err="1">
                  <a:latin typeface="Arial Italics" panose="020B0604020202020204" charset="0"/>
                  <a:cs typeface="Arial Italics" panose="020B0604020202020204" charset="0"/>
                </a:rPr>
                <a:t>thể</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hiện</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định</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hướng</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ứng</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dụng</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trí</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tuệ</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nhân</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tạo</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để</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xây</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dựng</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giải</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pháp</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chăm</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sóc</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sức</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khỏe</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học</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đường</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thông</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minh</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thân</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thiện</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và</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phù</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hợp</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với</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học</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sinh</a:t>
              </a:r>
              <a:r>
                <a:rPr lang="en-US" sz="2800" dirty="0">
                  <a:latin typeface="Arial Italics" panose="020B0604020202020204" charset="0"/>
                  <a:cs typeface="Arial Italics" panose="020B0604020202020204" charset="0"/>
                </a:rPr>
                <a:t>. Thông qua </a:t>
              </a:r>
              <a:r>
                <a:rPr lang="en-US" sz="2800" dirty="0" err="1">
                  <a:latin typeface="Arial Italics" panose="020B0604020202020204" charset="0"/>
                  <a:cs typeface="Arial Italics" panose="020B0604020202020204" charset="0"/>
                </a:rPr>
                <a:t>sản</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phẩm</a:t>
              </a:r>
              <a:r>
                <a:rPr lang="en-US" sz="2800" dirty="0">
                  <a:latin typeface="Arial Italics" panose="020B0604020202020204" charset="0"/>
                  <a:cs typeface="Arial Italics" panose="020B0604020202020204" charset="0"/>
                </a:rPr>
                <a:t> AI School Health Coach, </a:t>
              </a:r>
              <a:r>
                <a:rPr lang="en-US" sz="2800" dirty="0" err="1">
                  <a:latin typeface="Arial Italics" panose="020B0604020202020204" charset="0"/>
                  <a:cs typeface="Arial Italics" panose="020B0604020202020204" charset="0"/>
                </a:rPr>
                <a:t>đội</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mong</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muốn</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tạo</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ra</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một</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người</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bạn</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đồng</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hành</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sức</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khỏe</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giúp</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học</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sinh</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theo</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dõi</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thể</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trạng</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hình</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thành</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thói</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quen</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lành</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mạnh</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cải</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thiện</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sức</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khỏe</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thể</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chất</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và</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tinh</a:t>
              </a:r>
              <a:r>
                <a:rPr lang="en-US" sz="2800" dirty="0">
                  <a:latin typeface="Arial Italics" panose="020B0604020202020204" charset="0"/>
                  <a:cs typeface="Arial Italics" panose="020B0604020202020204" charset="0"/>
                </a:rPr>
                <a:t> </a:t>
              </a:r>
              <a:r>
                <a:rPr lang="en-US" sz="2800" dirty="0" err="1">
                  <a:latin typeface="Arial Italics" panose="020B0604020202020204" charset="0"/>
                  <a:cs typeface="Arial Italics" panose="020B0604020202020204" charset="0"/>
                </a:rPr>
                <a:t>thần</a:t>
              </a:r>
              <a:r>
                <a:rPr lang="en-US" sz="2800" dirty="0">
                  <a:latin typeface="Arial Italics" panose="020B0604020202020204" charset="0"/>
                  <a:cs typeface="Arial Italics" panose="020B0604020202020204" charset="0"/>
                </a:rPr>
                <a:t>.</a:t>
              </a:r>
              <a:endParaRPr lang="en-US" sz="2700" dirty="0">
                <a:solidFill>
                  <a:srgbClr val="000000"/>
                </a:solidFill>
                <a:latin typeface="Arial Italics" panose="020B0604020202020204" charset="0"/>
                <a:ea typeface="Arial Italics"/>
                <a:cs typeface="Arial Italics" panose="020B0604020202020204" charset="0"/>
                <a:sym typeface="Arial Italics"/>
              </a:endParaRPr>
            </a:p>
            <a:p>
              <a:pPr algn="l">
                <a:lnSpc>
                  <a:spcPts val="4860"/>
                </a:lnSpc>
              </a:pPr>
              <a:r>
                <a:rPr lang="en-US" sz="2700" dirty="0">
                  <a:solidFill>
                    <a:srgbClr val="000000"/>
                  </a:solidFill>
                  <a:latin typeface="Arial"/>
                  <a:ea typeface="Arial"/>
                  <a:cs typeface="Arial"/>
                  <a:sym typeface="Arial"/>
                </a:rPr>
                <a:t>- </a:t>
              </a:r>
              <a:r>
                <a:rPr lang="en-US" sz="2700" b="1" i="1" u="sng" dirty="0">
                  <a:solidFill>
                    <a:srgbClr val="000000"/>
                  </a:solidFill>
                  <a:latin typeface="Arial Italics"/>
                  <a:ea typeface="Arial Italics"/>
                  <a:cs typeface="Arial Italics"/>
                  <a:sym typeface="Arial Italics"/>
                </a:rPr>
                <a:t>Tôn </a:t>
              </a:r>
              <a:r>
                <a:rPr lang="en-US" sz="2700" b="1" i="1" u="sng" dirty="0" err="1">
                  <a:solidFill>
                    <a:srgbClr val="000000"/>
                  </a:solidFill>
                  <a:latin typeface="Arial Italics"/>
                  <a:ea typeface="Arial Italics"/>
                  <a:cs typeface="Arial Italics"/>
                  <a:sym typeface="Arial Italics"/>
                </a:rPr>
                <a:t>chỉ</a:t>
              </a:r>
              <a:r>
                <a:rPr lang="en-US" sz="2700" b="1" i="1" u="sng" dirty="0">
                  <a:solidFill>
                    <a:srgbClr val="000000"/>
                  </a:solidFill>
                  <a:latin typeface="Arial Italics"/>
                  <a:ea typeface="Arial Italics"/>
                  <a:cs typeface="Arial Italics"/>
                  <a:sym typeface="Arial Italics"/>
                </a:rPr>
                <a:t> </a:t>
              </a:r>
              <a:r>
                <a:rPr lang="en-US" sz="2700" b="1" i="1" u="sng" dirty="0" err="1">
                  <a:solidFill>
                    <a:srgbClr val="000000"/>
                  </a:solidFill>
                  <a:latin typeface="Arial Italics"/>
                  <a:ea typeface="Arial Italics"/>
                  <a:cs typeface="Arial Italics"/>
                  <a:sym typeface="Arial Italics"/>
                </a:rPr>
                <a:t>làm</a:t>
              </a:r>
              <a:r>
                <a:rPr lang="en-US" sz="2700" b="1" i="1" u="sng" dirty="0">
                  <a:solidFill>
                    <a:srgbClr val="000000"/>
                  </a:solidFill>
                  <a:latin typeface="Arial Italics"/>
                  <a:ea typeface="Arial Italics"/>
                  <a:cs typeface="Arial Italics"/>
                  <a:sym typeface="Arial Italics"/>
                </a:rPr>
                <a:t> </a:t>
              </a:r>
              <a:r>
                <a:rPr lang="en-US" sz="2700" b="1" i="1" u="sng" dirty="0" err="1">
                  <a:solidFill>
                    <a:srgbClr val="000000"/>
                  </a:solidFill>
                  <a:latin typeface="Arial Italics"/>
                  <a:ea typeface="Arial Italics"/>
                  <a:cs typeface="Arial Italics"/>
                  <a:sym typeface="Arial Italics"/>
                </a:rPr>
                <a:t>việc</a:t>
              </a:r>
              <a:r>
                <a:rPr lang="en-US" sz="2700" b="1" i="1" u="sng" dirty="0">
                  <a:solidFill>
                    <a:srgbClr val="000000"/>
                  </a:solidFill>
                  <a:latin typeface="Arial Italics"/>
                  <a:ea typeface="Arial Italics"/>
                  <a:cs typeface="Arial Italics"/>
                  <a:sym typeface="Arial Italics"/>
                </a:rPr>
                <a:t> </a:t>
              </a:r>
              <a:r>
                <a:rPr lang="en-US" sz="2700" b="1" i="1" u="sng" dirty="0" err="1">
                  <a:solidFill>
                    <a:srgbClr val="000000"/>
                  </a:solidFill>
                  <a:latin typeface="Arial Italics"/>
                  <a:ea typeface="Arial Italics"/>
                  <a:cs typeface="Arial Italics"/>
                  <a:sym typeface="Arial Italics"/>
                </a:rPr>
                <a:t>của</a:t>
              </a:r>
              <a:r>
                <a:rPr lang="en-US" sz="2700" b="1" i="1" u="sng" dirty="0">
                  <a:solidFill>
                    <a:srgbClr val="000000"/>
                  </a:solidFill>
                  <a:latin typeface="Arial Italics"/>
                  <a:ea typeface="Arial Italics"/>
                  <a:cs typeface="Arial Italics"/>
                  <a:sym typeface="Arial Italics"/>
                </a:rPr>
                <a:t> </a:t>
              </a:r>
              <a:r>
                <a:rPr lang="en-US" sz="2700" b="1" i="1" u="sng" dirty="0" err="1">
                  <a:solidFill>
                    <a:srgbClr val="000000"/>
                  </a:solidFill>
                  <a:latin typeface="Arial Italics"/>
                  <a:ea typeface="Arial Italics"/>
                  <a:cs typeface="Arial Italics"/>
                  <a:sym typeface="Arial Italics"/>
                </a:rPr>
                <a:t>nhóm</a:t>
              </a:r>
              <a:r>
                <a:rPr lang="en-US" sz="2700" b="1" i="1" u="sng" dirty="0">
                  <a:solidFill>
                    <a:srgbClr val="000000"/>
                  </a:solidFill>
                  <a:latin typeface="Arial Italics"/>
                  <a:ea typeface="Arial Italics"/>
                  <a:cs typeface="Arial Italics"/>
                  <a:sym typeface="Arial Italics"/>
                </a:rPr>
                <a:t>: </a:t>
              </a:r>
              <a:r>
                <a:rPr lang="en-US" sz="2700" i="1" dirty="0" err="1">
                  <a:solidFill>
                    <a:srgbClr val="000000"/>
                  </a:solidFill>
                  <a:latin typeface="Arial Italics"/>
                  <a:ea typeface="Arial Italics"/>
                  <a:cs typeface="Arial Italics"/>
                  <a:sym typeface="Arial Italics"/>
                </a:rPr>
                <a:t>Thấu</a:t>
              </a:r>
              <a:r>
                <a:rPr lang="en-US" sz="2700" i="1" dirty="0">
                  <a:solidFill>
                    <a:srgbClr val="000000"/>
                  </a:solidFill>
                  <a:latin typeface="Arial Italics"/>
                  <a:ea typeface="Arial Italics"/>
                  <a:cs typeface="Arial Italics"/>
                  <a:sym typeface="Arial Italics"/>
                </a:rPr>
                <a:t> </a:t>
              </a:r>
              <a:r>
                <a:rPr lang="en-US" sz="2700" i="1" dirty="0" err="1">
                  <a:solidFill>
                    <a:srgbClr val="000000"/>
                  </a:solidFill>
                  <a:latin typeface="Arial Italics"/>
                  <a:ea typeface="Arial Italics"/>
                  <a:cs typeface="Arial Italics"/>
                  <a:sym typeface="Arial Italics"/>
                </a:rPr>
                <a:t>hiểu</a:t>
              </a:r>
              <a:r>
                <a:rPr lang="en-US" sz="2700" i="1" dirty="0">
                  <a:solidFill>
                    <a:srgbClr val="000000"/>
                  </a:solidFill>
                  <a:latin typeface="Arial Italics"/>
                  <a:ea typeface="Arial Italics"/>
                  <a:cs typeface="Arial Italics"/>
                  <a:sym typeface="Arial Italics"/>
                </a:rPr>
                <a:t> </a:t>
              </a:r>
              <a:r>
                <a:rPr lang="en-US" sz="2700" i="1" dirty="0" err="1">
                  <a:solidFill>
                    <a:srgbClr val="000000"/>
                  </a:solidFill>
                  <a:latin typeface="Arial Italics"/>
                  <a:ea typeface="Arial Italics"/>
                  <a:cs typeface="Arial Italics"/>
                  <a:sym typeface="Arial Italics"/>
                </a:rPr>
                <a:t>bằng</a:t>
              </a:r>
              <a:r>
                <a:rPr lang="en-US" sz="2700" i="1" dirty="0">
                  <a:solidFill>
                    <a:srgbClr val="000000"/>
                  </a:solidFill>
                  <a:latin typeface="Arial Italics"/>
                  <a:ea typeface="Arial Italics"/>
                  <a:cs typeface="Arial Italics"/>
                  <a:sym typeface="Arial Italics"/>
                </a:rPr>
                <a:t> </a:t>
              </a:r>
              <a:r>
                <a:rPr lang="en-US" sz="2700" i="1" dirty="0" err="1">
                  <a:solidFill>
                    <a:srgbClr val="000000"/>
                  </a:solidFill>
                  <a:latin typeface="Arial Italics"/>
                  <a:ea typeface="Arial Italics"/>
                  <a:cs typeface="Arial Italics"/>
                  <a:sym typeface="Arial Italics"/>
                </a:rPr>
                <a:t>trái</a:t>
              </a:r>
              <a:r>
                <a:rPr lang="en-US" sz="2700" i="1" dirty="0">
                  <a:solidFill>
                    <a:srgbClr val="000000"/>
                  </a:solidFill>
                  <a:latin typeface="Arial Italics"/>
                  <a:ea typeface="Arial Italics"/>
                  <a:cs typeface="Arial Italics"/>
                  <a:sym typeface="Arial Italics"/>
                </a:rPr>
                <a:t> </a:t>
              </a:r>
              <a:r>
                <a:rPr lang="en-US" sz="2700" i="1" dirty="0" err="1">
                  <a:solidFill>
                    <a:srgbClr val="000000"/>
                  </a:solidFill>
                  <a:latin typeface="Arial Italics"/>
                  <a:ea typeface="Arial Italics"/>
                  <a:cs typeface="Arial Italics"/>
                  <a:sym typeface="Arial Italics"/>
                </a:rPr>
                <a:t>tim</a:t>
              </a:r>
              <a:r>
                <a:rPr lang="en-US" sz="2700" i="1" dirty="0">
                  <a:solidFill>
                    <a:srgbClr val="000000"/>
                  </a:solidFill>
                  <a:latin typeface="Arial Italics"/>
                  <a:ea typeface="Arial Italics"/>
                  <a:cs typeface="Arial Italics"/>
                  <a:sym typeface="Arial Italics"/>
                </a:rPr>
                <a:t> – Sáng </a:t>
              </a:r>
              <a:r>
                <a:rPr lang="en-US" sz="2700" i="1" dirty="0" err="1">
                  <a:solidFill>
                    <a:srgbClr val="000000"/>
                  </a:solidFill>
                  <a:latin typeface="Arial Italics"/>
                  <a:ea typeface="Arial Italics"/>
                  <a:cs typeface="Arial Italics"/>
                  <a:sym typeface="Arial Italics"/>
                </a:rPr>
                <a:t>tạo</a:t>
              </a:r>
              <a:r>
                <a:rPr lang="en-US" sz="2700" i="1" dirty="0">
                  <a:solidFill>
                    <a:srgbClr val="000000"/>
                  </a:solidFill>
                  <a:latin typeface="Arial Italics"/>
                  <a:ea typeface="Arial Italics"/>
                  <a:cs typeface="Arial Italics"/>
                  <a:sym typeface="Arial Italics"/>
                </a:rPr>
                <a:t> </a:t>
              </a:r>
              <a:r>
                <a:rPr lang="en-US" sz="2700" i="1" dirty="0" err="1">
                  <a:solidFill>
                    <a:srgbClr val="000000"/>
                  </a:solidFill>
                  <a:latin typeface="Arial Italics"/>
                  <a:ea typeface="Arial Italics"/>
                  <a:cs typeface="Arial Italics"/>
                  <a:sym typeface="Arial Italics"/>
                </a:rPr>
                <a:t>bằng</a:t>
              </a:r>
              <a:r>
                <a:rPr lang="en-US" sz="2700" i="1" dirty="0">
                  <a:solidFill>
                    <a:srgbClr val="000000"/>
                  </a:solidFill>
                  <a:latin typeface="Arial Italics"/>
                  <a:ea typeface="Arial Italics"/>
                  <a:cs typeface="Arial Italics"/>
                  <a:sym typeface="Arial Italics"/>
                </a:rPr>
                <a:t> </a:t>
              </a:r>
              <a:r>
                <a:rPr lang="en-US" sz="2700" i="1" dirty="0" err="1">
                  <a:solidFill>
                    <a:srgbClr val="000000"/>
                  </a:solidFill>
                  <a:latin typeface="Arial Italics"/>
                  <a:ea typeface="Arial Italics"/>
                  <a:cs typeface="Arial Italics"/>
                  <a:sym typeface="Arial Italics"/>
                </a:rPr>
                <a:t>công</a:t>
              </a:r>
              <a:r>
                <a:rPr lang="en-US" sz="2700" i="1" dirty="0">
                  <a:solidFill>
                    <a:srgbClr val="000000"/>
                  </a:solidFill>
                  <a:latin typeface="Arial Italics"/>
                  <a:ea typeface="Arial Italics"/>
                  <a:cs typeface="Arial Italics"/>
                  <a:sym typeface="Arial Italics"/>
                </a:rPr>
                <a:t> </a:t>
              </a:r>
              <a:r>
                <a:rPr lang="en-US" sz="2700" i="1" dirty="0" err="1">
                  <a:solidFill>
                    <a:srgbClr val="000000"/>
                  </a:solidFill>
                  <a:latin typeface="Arial Italics"/>
                  <a:ea typeface="Arial Italics"/>
                  <a:cs typeface="Arial Italics"/>
                  <a:sym typeface="Arial Italics"/>
                </a:rPr>
                <a:t>nghệ</a:t>
              </a:r>
              <a:r>
                <a:rPr lang="en-US" sz="2700" i="1" dirty="0">
                  <a:solidFill>
                    <a:srgbClr val="000000"/>
                  </a:solidFill>
                  <a:latin typeface="Arial Italics"/>
                  <a:ea typeface="Arial Italics"/>
                  <a:cs typeface="Arial Italics"/>
                  <a:sym typeface="Arial Italics"/>
                </a:rPr>
                <a:t> – </a:t>
              </a:r>
              <a:r>
                <a:rPr lang="en-US" sz="2700" i="1" dirty="0" err="1">
                  <a:solidFill>
                    <a:srgbClr val="000000"/>
                  </a:solidFill>
                  <a:latin typeface="Arial Italics"/>
                  <a:ea typeface="Arial Italics"/>
                  <a:cs typeface="Arial Italics"/>
                  <a:sym typeface="Arial Italics"/>
                </a:rPr>
                <a:t>Hành</a:t>
              </a:r>
              <a:r>
                <a:rPr lang="en-US" sz="2700" i="1" dirty="0">
                  <a:solidFill>
                    <a:srgbClr val="000000"/>
                  </a:solidFill>
                  <a:latin typeface="Arial Italics"/>
                  <a:ea typeface="Arial Italics"/>
                  <a:cs typeface="Arial Italics"/>
                  <a:sym typeface="Arial Italics"/>
                </a:rPr>
                <a:t> </a:t>
              </a:r>
              <a:r>
                <a:rPr lang="en-US" sz="2700" i="1" dirty="0" err="1">
                  <a:solidFill>
                    <a:srgbClr val="000000"/>
                  </a:solidFill>
                  <a:latin typeface="Arial Italics"/>
                  <a:ea typeface="Arial Italics"/>
                  <a:cs typeface="Arial Italics"/>
                  <a:sym typeface="Arial Italics"/>
                </a:rPr>
                <a:t>động</a:t>
              </a:r>
              <a:r>
                <a:rPr lang="en-US" sz="2700" i="1" dirty="0">
                  <a:solidFill>
                    <a:srgbClr val="000000"/>
                  </a:solidFill>
                  <a:latin typeface="Arial Italics"/>
                  <a:ea typeface="Arial Italics"/>
                  <a:cs typeface="Arial Italics"/>
                  <a:sym typeface="Arial Italics"/>
                </a:rPr>
                <a:t> </a:t>
              </a:r>
              <a:r>
                <a:rPr lang="en-US" sz="2700" i="1" dirty="0" err="1">
                  <a:solidFill>
                    <a:srgbClr val="000000"/>
                  </a:solidFill>
                  <a:latin typeface="Arial Italics"/>
                  <a:ea typeface="Arial Italics"/>
                  <a:cs typeface="Arial Italics"/>
                  <a:sym typeface="Arial Italics"/>
                </a:rPr>
                <a:t>vì</a:t>
              </a:r>
              <a:r>
                <a:rPr lang="en-US" sz="2700" i="1" dirty="0">
                  <a:solidFill>
                    <a:srgbClr val="000000"/>
                  </a:solidFill>
                  <a:latin typeface="Arial Italics"/>
                  <a:ea typeface="Arial Italics"/>
                  <a:cs typeface="Arial Italics"/>
                  <a:sym typeface="Arial Italics"/>
                </a:rPr>
                <a:t> </a:t>
              </a:r>
              <a:r>
                <a:rPr lang="en-US" sz="2700" i="1" dirty="0" err="1">
                  <a:solidFill>
                    <a:srgbClr val="000000"/>
                  </a:solidFill>
                  <a:latin typeface="Arial Italics"/>
                  <a:ea typeface="Arial Italics"/>
                  <a:cs typeface="Arial Italics"/>
                  <a:sym typeface="Arial Italics"/>
                </a:rPr>
                <a:t>sức</a:t>
              </a:r>
              <a:r>
                <a:rPr lang="en-US" sz="2700" i="1" dirty="0">
                  <a:solidFill>
                    <a:srgbClr val="000000"/>
                  </a:solidFill>
                  <a:latin typeface="Arial Italics"/>
                  <a:ea typeface="Arial Italics"/>
                  <a:cs typeface="Arial Italics"/>
                  <a:sym typeface="Arial Italics"/>
                </a:rPr>
                <a:t> </a:t>
              </a:r>
              <a:r>
                <a:rPr lang="en-US" sz="2700" i="1" dirty="0" err="1">
                  <a:solidFill>
                    <a:srgbClr val="000000"/>
                  </a:solidFill>
                  <a:latin typeface="Arial Italics"/>
                  <a:ea typeface="Arial Italics"/>
                  <a:cs typeface="Arial Italics"/>
                  <a:sym typeface="Arial Italics"/>
                </a:rPr>
                <a:t>khỏe</a:t>
              </a:r>
              <a:r>
                <a:rPr lang="en-US" sz="2700" i="1" dirty="0">
                  <a:solidFill>
                    <a:srgbClr val="000000"/>
                  </a:solidFill>
                  <a:latin typeface="Arial Italics"/>
                  <a:ea typeface="Arial Italics"/>
                  <a:cs typeface="Arial Italics"/>
                  <a:sym typeface="Arial Italics"/>
                </a:rPr>
                <a:t> </a:t>
              </a:r>
              <a:r>
                <a:rPr lang="en-US" sz="2700" i="1" dirty="0" err="1">
                  <a:solidFill>
                    <a:srgbClr val="000000"/>
                  </a:solidFill>
                  <a:latin typeface="Arial Italics"/>
                  <a:ea typeface="Arial Italics"/>
                  <a:cs typeface="Arial Italics"/>
                  <a:sym typeface="Arial Italics"/>
                </a:rPr>
                <a:t>học</a:t>
              </a:r>
              <a:r>
                <a:rPr lang="en-US" sz="2700" i="1" dirty="0">
                  <a:solidFill>
                    <a:srgbClr val="000000"/>
                  </a:solidFill>
                  <a:latin typeface="Arial Italics"/>
                  <a:ea typeface="Arial Italics"/>
                  <a:cs typeface="Arial Italics"/>
                  <a:sym typeface="Arial Italics"/>
                </a:rPr>
                <a:t> </a:t>
              </a:r>
              <a:r>
                <a:rPr lang="en-US" sz="2700" i="1" dirty="0" err="1">
                  <a:solidFill>
                    <a:srgbClr val="000000"/>
                  </a:solidFill>
                  <a:latin typeface="Arial Italics"/>
                  <a:ea typeface="Arial Italics"/>
                  <a:cs typeface="Arial Italics"/>
                  <a:sym typeface="Arial Italics"/>
                </a:rPr>
                <a:t>sinh</a:t>
              </a:r>
              <a:r>
                <a:rPr lang="en-US" sz="2700" i="1" dirty="0">
                  <a:solidFill>
                    <a:srgbClr val="000000"/>
                  </a:solidFill>
                  <a:latin typeface="Arial Italics"/>
                  <a:ea typeface="Arial Italics"/>
                  <a:cs typeface="Arial Italics"/>
                  <a:sym typeface="Arial Italics"/>
                </a:rPr>
                <a:t>.</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1216" y="1488415"/>
            <a:ext cx="7418327" cy="877100"/>
            <a:chOff x="0" y="0"/>
            <a:chExt cx="9891103" cy="1169467"/>
          </a:xfrm>
        </p:grpSpPr>
        <p:sp>
          <p:nvSpPr>
            <p:cNvPr id="3" name="Freeform 3"/>
            <p:cNvSpPr/>
            <p:nvPr/>
          </p:nvSpPr>
          <p:spPr>
            <a:xfrm>
              <a:off x="0" y="0"/>
              <a:ext cx="9891108" cy="1169470"/>
            </a:xfrm>
            <a:custGeom>
              <a:avLst/>
              <a:gdLst/>
              <a:ahLst/>
              <a:cxnLst/>
              <a:rect l="l" t="t" r="r" b="b"/>
              <a:pathLst>
                <a:path w="9891108" h="1169470">
                  <a:moveTo>
                    <a:pt x="0" y="0"/>
                  </a:moveTo>
                  <a:lnTo>
                    <a:pt x="9891108" y="0"/>
                  </a:lnTo>
                  <a:lnTo>
                    <a:pt x="9891108" y="1169470"/>
                  </a:lnTo>
                  <a:lnTo>
                    <a:pt x="0" y="1169470"/>
                  </a:lnTo>
                  <a:close/>
                </a:path>
              </a:pathLst>
            </a:custGeom>
            <a:blipFill>
              <a:blip r:embed="rId2">
                <a:alphaModFix amt="0"/>
              </a:blip>
              <a:stretch>
                <a:fillRect t="-114800" b="-114799"/>
              </a:stretch>
            </a:blipFill>
          </p:spPr>
          <p:txBody>
            <a:bodyPr/>
            <a:lstStyle/>
            <a:p>
              <a:endParaRPr lang="en-US"/>
            </a:p>
          </p:txBody>
        </p:sp>
        <p:sp>
          <p:nvSpPr>
            <p:cNvPr id="4" name="TextBox 4"/>
            <p:cNvSpPr txBox="1"/>
            <p:nvPr/>
          </p:nvSpPr>
          <p:spPr>
            <a:xfrm>
              <a:off x="0" y="-19050"/>
              <a:ext cx="9891103" cy="1188517"/>
            </a:xfrm>
            <a:prstGeom prst="rect">
              <a:avLst/>
            </a:prstGeom>
          </p:spPr>
          <p:txBody>
            <a:bodyPr lIns="0" tIns="0" rIns="0" bIns="0" rtlCol="0" anchor="ctr"/>
            <a:lstStyle/>
            <a:p>
              <a:pPr algn="l">
                <a:lnSpc>
                  <a:spcPts val="5759"/>
                </a:lnSpc>
              </a:pPr>
              <a:r>
                <a:rPr lang="en-US" sz="4800" b="1">
                  <a:solidFill>
                    <a:srgbClr val="C00000"/>
                  </a:solidFill>
                  <a:latin typeface="Arial Bold"/>
                  <a:ea typeface="Arial Bold"/>
                  <a:cs typeface="Arial Bold"/>
                  <a:sym typeface="Arial Bold"/>
                </a:rPr>
                <a:t>B. MỤC LỤC BÀI DỰ THI</a:t>
              </a:r>
            </a:p>
          </p:txBody>
        </p:sp>
      </p:grpSp>
      <p:sp>
        <p:nvSpPr>
          <p:cNvPr id="5" name="TextBox 5"/>
          <p:cNvSpPr txBox="1"/>
          <p:nvPr/>
        </p:nvSpPr>
        <p:spPr>
          <a:xfrm>
            <a:off x="752389" y="2371735"/>
            <a:ext cx="13036163" cy="4762500"/>
          </a:xfrm>
          <a:prstGeom prst="rect">
            <a:avLst/>
          </a:prstGeom>
        </p:spPr>
        <p:txBody>
          <a:bodyPr lIns="0" tIns="0" rIns="0" bIns="0" rtlCol="0" anchor="t">
            <a:spAutoFit/>
          </a:bodyPr>
          <a:lstStyle/>
          <a:p>
            <a:pPr marL="542925" lvl="4" indent="-108585" algn="l">
              <a:lnSpc>
                <a:spcPts val="5400"/>
              </a:lnSpc>
              <a:buAutoNum type="arabicPeriod"/>
            </a:pPr>
            <a:r>
              <a:rPr lang="en-US" sz="3000">
                <a:solidFill>
                  <a:srgbClr val="000000"/>
                </a:solidFill>
                <a:latin typeface="Arial"/>
                <a:ea typeface="Arial"/>
                <a:cs typeface="Arial"/>
                <a:sym typeface="Arial"/>
              </a:rPr>
              <a:t>Đề tài dự thi</a:t>
            </a:r>
          </a:p>
          <a:p>
            <a:pPr marL="542925" lvl="4" indent="-108585" algn="l">
              <a:lnSpc>
                <a:spcPts val="5400"/>
              </a:lnSpc>
              <a:buAutoNum type="arabicPeriod"/>
            </a:pPr>
            <a:r>
              <a:rPr lang="en-US" sz="3000">
                <a:solidFill>
                  <a:srgbClr val="000000"/>
                </a:solidFill>
                <a:latin typeface="Arial"/>
                <a:ea typeface="Arial"/>
                <a:cs typeface="Arial"/>
                <a:sym typeface="Arial"/>
              </a:rPr>
              <a:t>Lý do chọn đề tài</a:t>
            </a:r>
          </a:p>
          <a:p>
            <a:pPr marL="542925" lvl="4" indent="-108585" algn="l">
              <a:lnSpc>
                <a:spcPts val="5400"/>
              </a:lnSpc>
              <a:buAutoNum type="arabicPeriod"/>
            </a:pPr>
            <a:r>
              <a:rPr lang="en-US" sz="3000">
                <a:solidFill>
                  <a:srgbClr val="000000"/>
                </a:solidFill>
                <a:latin typeface="Arial"/>
                <a:ea typeface="Arial"/>
                <a:cs typeface="Arial"/>
                <a:sym typeface="Arial"/>
              </a:rPr>
              <a:t>Phương pháp tìm hiểu vấn đề</a:t>
            </a:r>
          </a:p>
          <a:p>
            <a:pPr marL="542925" lvl="4" indent="-108585" algn="l">
              <a:lnSpc>
                <a:spcPts val="5400"/>
              </a:lnSpc>
              <a:buAutoNum type="arabicPeriod"/>
            </a:pPr>
            <a:r>
              <a:rPr lang="en-US" sz="3000">
                <a:solidFill>
                  <a:srgbClr val="000000"/>
                </a:solidFill>
                <a:latin typeface="Arial"/>
                <a:ea typeface="Arial"/>
                <a:cs typeface="Arial"/>
                <a:sym typeface="Arial"/>
              </a:rPr>
              <a:t>Ý tưởng và giải pháp để hoàn thành mô hình sản phẩm</a:t>
            </a:r>
          </a:p>
          <a:p>
            <a:pPr marL="542925" lvl="4" indent="-108585" algn="l">
              <a:lnSpc>
                <a:spcPts val="5400"/>
              </a:lnSpc>
              <a:buAutoNum type="arabicPeriod"/>
            </a:pPr>
            <a:r>
              <a:rPr lang="en-US" sz="3000">
                <a:solidFill>
                  <a:srgbClr val="000000"/>
                </a:solidFill>
                <a:latin typeface="Arial"/>
                <a:ea typeface="Arial"/>
                <a:cs typeface="Arial"/>
                <a:sym typeface="Arial"/>
              </a:rPr>
              <a:t>Quy trình thử nghiệm và tính khả thi của giải pháp trong thực tiễn </a:t>
            </a:r>
          </a:p>
          <a:p>
            <a:pPr marL="542925" lvl="4" indent="-108585" algn="l">
              <a:lnSpc>
                <a:spcPts val="5400"/>
              </a:lnSpc>
              <a:buAutoNum type="arabicPeriod"/>
            </a:pPr>
            <a:r>
              <a:rPr lang="en-US" sz="3000">
                <a:solidFill>
                  <a:srgbClr val="000000"/>
                </a:solidFill>
                <a:latin typeface="Arial"/>
                <a:ea typeface="Arial"/>
                <a:cs typeface="Arial"/>
                <a:sym typeface="Arial"/>
              </a:rPr>
              <a:t>Kế hoạch tài chính và triển khai thực hiện dự án</a:t>
            </a:r>
          </a:p>
          <a:p>
            <a:pPr marL="542925" lvl="4" indent="-108585" algn="l">
              <a:lnSpc>
                <a:spcPts val="5400"/>
              </a:lnSpc>
              <a:buAutoNum type="arabicPeriod"/>
            </a:pPr>
            <a:r>
              <a:rPr lang="en-US" sz="3000">
                <a:solidFill>
                  <a:srgbClr val="000000"/>
                </a:solidFill>
                <a:latin typeface="Arial"/>
                <a:ea typeface="Arial"/>
                <a:cs typeface="Arial"/>
                <a:sym typeface="Arial"/>
              </a:rPr>
              <a:t>Phụ lục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40692" y="455722"/>
            <a:ext cx="5263896" cy="877100"/>
            <a:chOff x="0" y="0"/>
            <a:chExt cx="7018528" cy="1169467"/>
          </a:xfrm>
        </p:grpSpPr>
        <p:sp>
          <p:nvSpPr>
            <p:cNvPr id="3" name="Freeform 3"/>
            <p:cNvSpPr/>
            <p:nvPr/>
          </p:nvSpPr>
          <p:spPr>
            <a:xfrm>
              <a:off x="0" y="0"/>
              <a:ext cx="7018528" cy="1169470"/>
            </a:xfrm>
            <a:custGeom>
              <a:avLst/>
              <a:gdLst/>
              <a:ahLst/>
              <a:cxnLst/>
              <a:rect l="l" t="t" r="r" b="b"/>
              <a:pathLst>
                <a:path w="7018528" h="1169470">
                  <a:moveTo>
                    <a:pt x="0" y="0"/>
                  </a:moveTo>
                  <a:lnTo>
                    <a:pt x="7018528" y="0"/>
                  </a:lnTo>
                  <a:lnTo>
                    <a:pt x="7018528" y="1169470"/>
                  </a:lnTo>
                  <a:lnTo>
                    <a:pt x="0" y="1169470"/>
                  </a:lnTo>
                  <a:close/>
                </a:path>
              </a:pathLst>
            </a:custGeom>
            <a:blipFill>
              <a:blip r:embed="rId2">
                <a:alphaModFix amt="0"/>
              </a:blip>
              <a:stretch>
                <a:fillRect t="-66938" b="-66938"/>
              </a:stretch>
            </a:blipFill>
          </p:spPr>
          <p:txBody>
            <a:bodyPr/>
            <a:lstStyle/>
            <a:p>
              <a:endParaRPr lang="en-US"/>
            </a:p>
          </p:txBody>
        </p:sp>
        <p:sp>
          <p:nvSpPr>
            <p:cNvPr id="4" name="TextBox 4"/>
            <p:cNvSpPr txBox="1"/>
            <p:nvPr/>
          </p:nvSpPr>
          <p:spPr>
            <a:xfrm>
              <a:off x="0" y="-19050"/>
              <a:ext cx="7018528" cy="1188517"/>
            </a:xfrm>
            <a:prstGeom prst="rect">
              <a:avLst/>
            </a:prstGeom>
          </p:spPr>
          <p:txBody>
            <a:bodyPr lIns="0" tIns="0" rIns="0" bIns="0" rtlCol="0" anchor="ctr"/>
            <a:lstStyle/>
            <a:p>
              <a:pPr algn="l">
                <a:lnSpc>
                  <a:spcPts val="5759"/>
                </a:lnSpc>
              </a:pPr>
              <a:r>
                <a:rPr lang="en-US" sz="4800" b="1">
                  <a:solidFill>
                    <a:srgbClr val="000000"/>
                  </a:solidFill>
                  <a:latin typeface="Arial Bold"/>
                  <a:ea typeface="Arial Bold"/>
                  <a:cs typeface="Arial Bold"/>
                  <a:sym typeface="Arial Bold"/>
                </a:rPr>
                <a:t>1. ĐỀ TÀI DỰ THI</a:t>
              </a:r>
            </a:p>
          </p:txBody>
        </p:sp>
      </p:grpSp>
      <p:sp>
        <p:nvSpPr>
          <p:cNvPr id="5" name="TextBox 5"/>
          <p:cNvSpPr txBox="1"/>
          <p:nvPr/>
        </p:nvSpPr>
        <p:spPr>
          <a:xfrm>
            <a:off x="1028700" y="2489770"/>
            <a:ext cx="15893133" cy="1676400"/>
          </a:xfrm>
          <a:prstGeom prst="rect">
            <a:avLst/>
          </a:prstGeom>
        </p:spPr>
        <p:txBody>
          <a:bodyPr lIns="0" tIns="0" rIns="0" bIns="0" rtlCol="0" anchor="t">
            <a:spAutoFit/>
          </a:bodyPr>
          <a:lstStyle/>
          <a:p>
            <a:pPr algn="l">
              <a:lnSpc>
                <a:spcPts val="4394"/>
              </a:lnSpc>
            </a:pPr>
            <a:r>
              <a:rPr lang="en-US" sz="3661" b="1">
                <a:solidFill>
                  <a:srgbClr val="000000"/>
                </a:solidFill>
                <a:latin typeface="Arial Bold"/>
                <a:ea typeface="Arial Bold"/>
                <a:cs typeface="Arial Bold"/>
                <a:sym typeface="Arial Bold"/>
              </a:rPr>
              <a:t>Tên đề tài: </a:t>
            </a:r>
            <a:r>
              <a:rPr lang="en-US" sz="3661">
                <a:solidFill>
                  <a:srgbClr val="000000"/>
                </a:solidFill>
                <a:latin typeface="Arial"/>
                <a:ea typeface="Arial"/>
                <a:cs typeface="Arial"/>
                <a:sym typeface="Arial"/>
              </a:rPr>
              <a:t>AI School Health Coach – Huấn luyện viên AI chăm sóc sức khỏe học đường cho học sinh.</a:t>
            </a:r>
          </a:p>
          <a:p>
            <a:pPr algn="l">
              <a:lnSpc>
                <a:spcPts val="4394"/>
              </a:lnSpc>
              <a:spcBef>
                <a:spcPct val="0"/>
              </a:spcBef>
            </a:pPr>
            <a:endParaRPr lang="en-US" sz="3661">
              <a:solidFill>
                <a:srgbClr val="000000"/>
              </a:solidFill>
              <a:latin typeface="Arial"/>
              <a:ea typeface="Arial"/>
              <a:cs typeface="Arial"/>
              <a:sym typeface="Arial"/>
            </a:endParaRPr>
          </a:p>
        </p:txBody>
      </p:sp>
      <p:sp>
        <p:nvSpPr>
          <p:cNvPr id="6" name="TextBox 6"/>
          <p:cNvSpPr txBox="1"/>
          <p:nvPr/>
        </p:nvSpPr>
        <p:spPr>
          <a:xfrm>
            <a:off x="1028700" y="4187828"/>
            <a:ext cx="17342847" cy="530082"/>
          </a:xfrm>
          <a:prstGeom prst="rect">
            <a:avLst/>
          </a:prstGeom>
        </p:spPr>
        <p:txBody>
          <a:bodyPr lIns="0" tIns="0" rIns="0" bIns="0" rtlCol="0" anchor="t">
            <a:spAutoFit/>
          </a:bodyPr>
          <a:lstStyle/>
          <a:p>
            <a:pPr algn="l">
              <a:lnSpc>
                <a:spcPts val="4394"/>
              </a:lnSpc>
              <a:spcBef>
                <a:spcPct val="0"/>
              </a:spcBef>
            </a:pPr>
            <a:r>
              <a:rPr lang="en-US" sz="3661" b="1" dirty="0" err="1">
                <a:solidFill>
                  <a:srgbClr val="000000"/>
                </a:solidFill>
                <a:latin typeface="Arial Bold"/>
                <a:ea typeface="Arial Bold"/>
                <a:cs typeface="Arial Bold"/>
                <a:sym typeface="Arial Bold"/>
              </a:rPr>
              <a:t>Chủ</a:t>
            </a:r>
            <a:r>
              <a:rPr lang="en-US" sz="3661" b="1" dirty="0">
                <a:solidFill>
                  <a:srgbClr val="000000"/>
                </a:solidFill>
                <a:latin typeface="Arial Bold"/>
                <a:ea typeface="Arial Bold"/>
                <a:cs typeface="Arial Bold"/>
                <a:sym typeface="Arial Bold"/>
              </a:rPr>
              <a:t> </a:t>
            </a:r>
            <a:r>
              <a:rPr lang="en-US" sz="3661" b="1" dirty="0" err="1">
                <a:solidFill>
                  <a:srgbClr val="000000"/>
                </a:solidFill>
                <a:latin typeface="Arial Bold"/>
                <a:ea typeface="Arial Bold"/>
                <a:cs typeface="Arial Bold"/>
                <a:sym typeface="Arial Bold"/>
              </a:rPr>
              <a:t>đề</a:t>
            </a:r>
            <a:r>
              <a:rPr lang="en-US" sz="3661" b="1" dirty="0">
                <a:solidFill>
                  <a:srgbClr val="000000"/>
                </a:solidFill>
                <a:latin typeface="Arial Bold"/>
                <a:ea typeface="Arial Bold"/>
                <a:cs typeface="Arial Bold"/>
                <a:sym typeface="Arial Bold"/>
              </a:rPr>
              <a:t> </a:t>
            </a:r>
            <a:r>
              <a:rPr lang="en-US" sz="3661" b="1" dirty="0" err="1">
                <a:solidFill>
                  <a:srgbClr val="000000"/>
                </a:solidFill>
                <a:latin typeface="Arial Bold"/>
                <a:ea typeface="Arial Bold"/>
                <a:cs typeface="Arial Bold"/>
                <a:sym typeface="Arial Bold"/>
              </a:rPr>
              <a:t>lựa</a:t>
            </a:r>
            <a:r>
              <a:rPr lang="en-US" sz="3661" b="1" dirty="0">
                <a:solidFill>
                  <a:srgbClr val="000000"/>
                </a:solidFill>
                <a:latin typeface="Arial Bold"/>
                <a:ea typeface="Arial Bold"/>
                <a:cs typeface="Arial Bold"/>
                <a:sym typeface="Arial Bold"/>
              </a:rPr>
              <a:t> </a:t>
            </a:r>
            <a:r>
              <a:rPr lang="en-US" sz="3661" b="1" dirty="0" err="1">
                <a:solidFill>
                  <a:srgbClr val="000000"/>
                </a:solidFill>
                <a:latin typeface="Arial Bold"/>
                <a:ea typeface="Arial Bold"/>
                <a:cs typeface="Arial Bold"/>
                <a:sym typeface="Arial Bold"/>
              </a:rPr>
              <a:t>chọn</a:t>
            </a:r>
            <a:r>
              <a:rPr lang="en-US" sz="3661" b="1" dirty="0">
                <a:solidFill>
                  <a:srgbClr val="000000"/>
                </a:solidFill>
                <a:latin typeface="Arial Bold"/>
                <a:ea typeface="Arial Bold"/>
                <a:cs typeface="Arial Bold"/>
                <a:sym typeface="Arial Bold"/>
              </a:rPr>
              <a:t>: </a:t>
            </a:r>
            <a:r>
              <a:rPr lang="en-US" sz="3661" dirty="0" err="1">
                <a:solidFill>
                  <a:srgbClr val="000000"/>
                </a:solidFill>
                <a:latin typeface="Arial"/>
                <a:ea typeface="Arial"/>
                <a:cs typeface="Arial"/>
                <a:sym typeface="Arial"/>
              </a:rPr>
              <a:t>Ứng</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dụng</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công</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nghệ</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nhằm</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phát</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triển</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xã</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hội</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bền</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vững</a:t>
            </a:r>
            <a:r>
              <a:rPr lang="en-US" sz="3661" dirty="0">
                <a:solidFill>
                  <a:srgbClr val="000000"/>
                </a:solidFill>
                <a:latin typeface="Arial"/>
                <a:ea typeface="Arial"/>
                <a:cs typeface="Arial"/>
                <a:sym typeface="Arial"/>
              </a:rPr>
              <a:t>.</a:t>
            </a:r>
          </a:p>
        </p:txBody>
      </p:sp>
      <p:sp>
        <p:nvSpPr>
          <p:cNvPr id="7" name="TextBox 7"/>
          <p:cNvSpPr txBox="1"/>
          <p:nvPr/>
        </p:nvSpPr>
        <p:spPr>
          <a:xfrm>
            <a:off x="1028700" y="5521328"/>
            <a:ext cx="12934126" cy="571500"/>
          </a:xfrm>
          <a:prstGeom prst="rect">
            <a:avLst/>
          </a:prstGeom>
        </p:spPr>
        <p:txBody>
          <a:bodyPr lIns="0" tIns="0" rIns="0" bIns="0" rtlCol="0" anchor="t">
            <a:spAutoFit/>
          </a:bodyPr>
          <a:lstStyle/>
          <a:p>
            <a:pPr algn="l">
              <a:lnSpc>
                <a:spcPts val="4394"/>
              </a:lnSpc>
              <a:spcBef>
                <a:spcPct val="0"/>
              </a:spcBef>
            </a:pPr>
            <a:r>
              <a:rPr lang="en-US" sz="3661" b="1">
                <a:solidFill>
                  <a:srgbClr val="000000"/>
                </a:solidFill>
                <a:latin typeface="Arial Bold"/>
                <a:ea typeface="Arial Bold"/>
                <a:cs typeface="Arial Bold"/>
                <a:sym typeface="Arial Bold"/>
              </a:rPr>
              <a:t>Đối tượng: </a:t>
            </a:r>
            <a:r>
              <a:rPr lang="en-US" sz="3661">
                <a:solidFill>
                  <a:srgbClr val="000000"/>
                </a:solidFill>
                <a:latin typeface="Arial"/>
                <a:ea typeface="Arial"/>
                <a:cs typeface="Arial"/>
                <a:sym typeface="Arial"/>
              </a:rPr>
              <a:t>Học sinh trung học.</a:t>
            </a:r>
          </a:p>
        </p:txBody>
      </p:sp>
      <p:sp>
        <p:nvSpPr>
          <p:cNvPr id="8" name="TextBox 8"/>
          <p:cNvSpPr txBox="1"/>
          <p:nvPr/>
        </p:nvSpPr>
        <p:spPr>
          <a:xfrm>
            <a:off x="1028700" y="6852585"/>
            <a:ext cx="16627919" cy="2228850"/>
          </a:xfrm>
          <a:prstGeom prst="rect">
            <a:avLst/>
          </a:prstGeom>
        </p:spPr>
        <p:txBody>
          <a:bodyPr lIns="0" tIns="0" rIns="0" bIns="0" rtlCol="0" anchor="t">
            <a:spAutoFit/>
          </a:bodyPr>
          <a:lstStyle/>
          <a:p>
            <a:pPr algn="l">
              <a:lnSpc>
                <a:spcPts val="4394"/>
              </a:lnSpc>
              <a:spcBef>
                <a:spcPct val="0"/>
              </a:spcBef>
            </a:pPr>
            <a:r>
              <a:rPr lang="en-US" sz="3661" b="1" dirty="0" err="1">
                <a:solidFill>
                  <a:srgbClr val="000000"/>
                </a:solidFill>
                <a:latin typeface="Arial Bold"/>
                <a:ea typeface="Arial Bold"/>
                <a:cs typeface="Arial Bold"/>
                <a:sym typeface="Arial Bold"/>
              </a:rPr>
              <a:t>Mục</a:t>
            </a:r>
            <a:r>
              <a:rPr lang="en-US" sz="3661" b="1" dirty="0">
                <a:solidFill>
                  <a:srgbClr val="000000"/>
                </a:solidFill>
                <a:latin typeface="Arial Bold"/>
                <a:ea typeface="Arial Bold"/>
                <a:cs typeface="Arial Bold"/>
                <a:sym typeface="Arial Bold"/>
              </a:rPr>
              <a:t> </a:t>
            </a:r>
            <a:r>
              <a:rPr lang="en-US" sz="3661" b="1" dirty="0" err="1">
                <a:solidFill>
                  <a:srgbClr val="000000"/>
                </a:solidFill>
                <a:latin typeface="Arial Bold"/>
                <a:ea typeface="Arial Bold"/>
                <a:cs typeface="Arial Bold"/>
                <a:sym typeface="Arial Bold"/>
              </a:rPr>
              <a:t>tiêu</a:t>
            </a:r>
            <a:r>
              <a:rPr lang="en-US" sz="3661" b="1" dirty="0">
                <a:solidFill>
                  <a:srgbClr val="000000"/>
                </a:solidFill>
                <a:latin typeface="Arial Bold"/>
                <a:ea typeface="Arial Bold"/>
                <a:cs typeface="Arial Bold"/>
                <a:sym typeface="Arial Bold"/>
              </a:rPr>
              <a:t> </a:t>
            </a:r>
            <a:r>
              <a:rPr lang="en-US" sz="3661" b="1" dirty="0" err="1">
                <a:solidFill>
                  <a:srgbClr val="000000"/>
                </a:solidFill>
                <a:latin typeface="Arial Bold"/>
                <a:ea typeface="Arial Bold"/>
                <a:cs typeface="Arial Bold"/>
                <a:sym typeface="Arial Bold"/>
              </a:rPr>
              <a:t>cốt</a:t>
            </a:r>
            <a:r>
              <a:rPr lang="en-US" sz="3661" b="1" dirty="0">
                <a:solidFill>
                  <a:srgbClr val="000000"/>
                </a:solidFill>
                <a:latin typeface="Arial Bold"/>
                <a:ea typeface="Arial Bold"/>
                <a:cs typeface="Arial Bold"/>
                <a:sym typeface="Arial Bold"/>
              </a:rPr>
              <a:t> </a:t>
            </a:r>
            <a:r>
              <a:rPr lang="en-US" sz="3661" b="1" dirty="0" err="1">
                <a:solidFill>
                  <a:srgbClr val="000000"/>
                </a:solidFill>
                <a:latin typeface="Arial Bold"/>
                <a:ea typeface="Arial Bold"/>
                <a:cs typeface="Arial Bold"/>
                <a:sym typeface="Arial Bold"/>
              </a:rPr>
              <a:t>lõi</a:t>
            </a:r>
            <a:r>
              <a:rPr lang="en-US" sz="3661" b="1" dirty="0">
                <a:solidFill>
                  <a:srgbClr val="000000"/>
                </a:solidFill>
                <a:latin typeface="Arial Bold"/>
                <a:ea typeface="Arial Bold"/>
                <a:cs typeface="Arial Bold"/>
                <a:sym typeface="Arial Bold"/>
              </a:rPr>
              <a:t> : </a:t>
            </a:r>
            <a:r>
              <a:rPr lang="en-US" sz="3661" dirty="0" err="1">
                <a:solidFill>
                  <a:srgbClr val="000000"/>
                </a:solidFill>
                <a:latin typeface="Arial"/>
                <a:ea typeface="Arial"/>
                <a:cs typeface="Arial"/>
                <a:sym typeface="Arial"/>
              </a:rPr>
              <a:t>Xây</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dựng</a:t>
            </a:r>
            <a:r>
              <a:rPr lang="en-US" sz="3661" dirty="0">
                <a:solidFill>
                  <a:srgbClr val="000000"/>
                </a:solidFill>
                <a:latin typeface="Arial"/>
                <a:ea typeface="Arial"/>
                <a:cs typeface="Arial"/>
                <a:sym typeface="Arial"/>
              </a:rPr>
              <a:t> AI School Health Coach </a:t>
            </a:r>
            <a:r>
              <a:rPr lang="en-US" sz="3661" dirty="0" err="1">
                <a:solidFill>
                  <a:srgbClr val="000000"/>
                </a:solidFill>
                <a:latin typeface="Arial"/>
                <a:ea typeface="Arial"/>
                <a:cs typeface="Arial"/>
                <a:sym typeface="Arial"/>
              </a:rPr>
              <a:t>ứng</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dụng</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trí</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tuệ</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nhân</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tạo</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nhằm</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theo</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dõi</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thấu</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hiểu</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và</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cá</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nhân</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hóa</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việc</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chăm</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sóc</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sức</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khỏe</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thể</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chất</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và</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tinh</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thần</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cho</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học</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sinh</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trung</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học</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giúp</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hình</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thành</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lối</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sống</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lành</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mạnh</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và</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phát</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triển</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toàn</a:t>
            </a:r>
            <a:r>
              <a:rPr lang="en-US" sz="3661" dirty="0">
                <a:solidFill>
                  <a:srgbClr val="000000"/>
                </a:solidFill>
                <a:latin typeface="Arial"/>
                <a:ea typeface="Arial"/>
                <a:cs typeface="Arial"/>
                <a:sym typeface="Arial"/>
              </a:rPr>
              <a:t> </a:t>
            </a:r>
            <a:r>
              <a:rPr lang="en-US" sz="3661" dirty="0" err="1">
                <a:solidFill>
                  <a:srgbClr val="000000"/>
                </a:solidFill>
                <a:latin typeface="Arial"/>
                <a:ea typeface="Arial"/>
                <a:cs typeface="Arial"/>
                <a:sym typeface="Arial"/>
              </a:rPr>
              <a:t>diện</a:t>
            </a:r>
            <a:r>
              <a:rPr lang="en-US" sz="3661" dirty="0">
                <a:solidFill>
                  <a:srgbClr val="000000"/>
                </a:solidFill>
                <a:latin typeface="Arial"/>
                <a:ea typeface="Arial"/>
                <a:cs typeface="Arial"/>
                <a:sym typeface="Arial"/>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590117"/>
            <a:ext cx="7012019" cy="877167"/>
            <a:chOff x="0" y="0"/>
            <a:chExt cx="9349359" cy="1169556"/>
          </a:xfrm>
        </p:grpSpPr>
        <p:sp>
          <p:nvSpPr>
            <p:cNvPr id="3" name="Freeform 3"/>
            <p:cNvSpPr/>
            <p:nvPr/>
          </p:nvSpPr>
          <p:spPr>
            <a:xfrm>
              <a:off x="0" y="0"/>
              <a:ext cx="9349356" cy="1169550"/>
            </a:xfrm>
            <a:custGeom>
              <a:avLst/>
              <a:gdLst/>
              <a:ahLst/>
              <a:cxnLst/>
              <a:rect l="l" t="t" r="r" b="b"/>
              <a:pathLst>
                <a:path w="9349356" h="1169550">
                  <a:moveTo>
                    <a:pt x="0" y="0"/>
                  </a:moveTo>
                  <a:lnTo>
                    <a:pt x="9349356" y="0"/>
                  </a:lnTo>
                  <a:lnTo>
                    <a:pt x="9349356" y="1169550"/>
                  </a:lnTo>
                  <a:lnTo>
                    <a:pt x="0" y="1169550"/>
                  </a:lnTo>
                  <a:close/>
                </a:path>
              </a:pathLst>
            </a:custGeom>
            <a:blipFill>
              <a:blip r:embed="rId2">
                <a:alphaModFix amt="0"/>
              </a:blip>
              <a:stretch>
                <a:fillRect t="-105762" b="-105763"/>
              </a:stretch>
            </a:blipFill>
          </p:spPr>
          <p:txBody>
            <a:bodyPr/>
            <a:lstStyle/>
            <a:p>
              <a:endParaRPr lang="en-US"/>
            </a:p>
          </p:txBody>
        </p:sp>
        <p:sp>
          <p:nvSpPr>
            <p:cNvPr id="4" name="TextBox 4"/>
            <p:cNvSpPr txBox="1"/>
            <p:nvPr/>
          </p:nvSpPr>
          <p:spPr>
            <a:xfrm>
              <a:off x="0" y="-19050"/>
              <a:ext cx="9349359" cy="1188606"/>
            </a:xfrm>
            <a:prstGeom prst="rect">
              <a:avLst/>
            </a:prstGeom>
          </p:spPr>
          <p:txBody>
            <a:bodyPr lIns="0" tIns="0" rIns="0" bIns="0" rtlCol="0" anchor="ctr"/>
            <a:lstStyle/>
            <a:p>
              <a:pPr algn="l">
                <a:lnSpc>
                  <a:spcPts val="5759"/>
                </a:lnSpc>
              </a:pPr>
              <a:r>
                <a:rPr lang="en-US" sz="4800" b="1">
                  <a:solidFill>
                    <a:srgbClr val="000000"/>
                  </a:solidFill>
                  <a:latin typeface="Arial Bold"/>
                  <a:ea typeface="Arial Bold"/>
                  <a:cs typeface="Arial Bold"/>
                  <a:sym typeface="Arial Bold"/>
                </a:rPr>
                <a:t>2. LÝ DO CHỌN ĐỀ TÀI</a:t>
              </a:r>
            </a:p>
          </p:txBody>
        </p:sp>
      </p:grpSp>
      <p:sp>
        <p:nvSpPr>
          <p:cNvPr id="5" name="TextBox 5"/>
          <p:cNvSpPr txBox="1"/>
          <p:nvPr/>
        </p:nvSpPr>
        <p:spPr>
          <a:xfrm>
            <a:off x="889686" y="1876425"/>
            <a:ext cx="16180550" cy="7381875"/>
          </a:xfrm>
          <a:prstGeom prst="rect">
            <a:avLst/>
          </a:prstGeom>
        </p:spPr>
        <p:txBody>
          <a:bodyPr lIns="0" tIns="0" rIns="0" bIns="0" rtlCol="0" anchor="t">
            <a:spAutoFit/>
          </a:bodyPr>
          <a:lstStyle/>
          <a:p>
            <a:pPr algn="l">
              <a:lnSpc>
                <a:spcPts val="3600"/>
              </a:lnSpc>
            </a:pPr>
            <a:r>
              <a:rPr lang="en-US" sz="3000" b="1">
                <a:solidFill>
                  <a:srgbClr val="000000"/>
                </a:solidFill>
                <a:latin typeface="Arial Bold"/>
                <a:ea typeface="Arial Bold"/>
                <a:cs typeface="Arial Bold"/>
                <a:sym typeface="Arial Bold"/>
              </a:rPr>
              <a:t>Trong bối cảnh chuyển đổi số, học sinh đang phải đối mặt với nhiều thách thức về sức khỏe học đường:</a:t>
            </a:r>
          </a:p>
          <a:p>
            <a:pPr marL="647700" lvl="1" indent="-323850" algn="l">
              <a:lnSpc>
                <a:spcPts val="3600"/>
              </a:lnSpc>
              <a:buFont typeface="Arial"/>
              <a:buChar char="•"/>
            </a:pPr>
            <a:r>
              <a:rPr lang="en-US" sz="3000">
                <a:solidFill>
                  <a:srgbClr val="000000"/>
                </a:solidFill>
                <a:latin typeface="Arial"/>
                <a:ea typeface="Arial"/>
                <a:cs typeface="Arial"/>
                <a:sym typeface="Arial"/>
              </a:rPr>
              <a:t>Suy giảm vận động: Thời gian sử dụng thiết bị điện tử tăng, ít tham gia hoạt động thể chất.</a:t>
            </a:r>
          </a:p>
          <a:p>
            <a:pPr marL="647700" lvl="1" indent="-323850" algn="l">
              <a:lnSpc>
                <a:spcPts val="3600"/>
              </a:lnSpc>
              <a:buFont typeface="Arial"/>
              <a:buChar char="•"/>
            </a:pPr>
            <a:r>
              <a:rPr lang="en-US" sz="3000">
                <a:solidFill>
                  <a:srgbClr val="000000"/>
                </a:solidFill>
                <a:latin typeface="Arial"/>
                <a:ea typeface="Arial"/>
                <a:cs typeface="Arial"/>
                <a:sym typeface="Arial"/>
              </a:rPr>
              <a:t>Gia tăng bệnh học đường: Cận thị, cong vẹo cột sống, thừa cân, rối loạn giấc ngủ ngày càng phổ biến.</a:t>
            </a:r>
          </a:p>
          <a:p>
            <a:pPr marL="647700" lvl="1" indent="-323850" algn="l">
              <a:lnSpc>
                <a:spcPts val="3600"/>
              </a:lnSpc>
              <a:buFont typeface="Arial"/>
              <a:buChar char="•"/>
            </a:pPr>
            <a:r>
              <a:rPr lang="en-US" sz="3000">
                <a:solidFill>
                  <a:srgbClr val="000000"/>
                </a:solidFill>
                <a:latin typeface="Arial"/>
                <a:ea typeface="Arial"/>
                <a:cs typeface="Arial"/>
                <a:sym typeface="Arial"/>
              </a:rPr>
              <a:t>Áp lực tâm lý: Căng thẳng, lo âu, mất cân bằng cảm xúc và các vấn đề về sức khỏe tinh thần có xu hướng gia tăng.</a:t>
            </a:r>
          </a:p>
          <a:p>
            <a:pPr marL="647700" lvl="1" indent="-323850" algn="l">
              <a:lnSpc>
                <a:spcPts val="3600"/>
              </a:lnSpc>
              <a:buFont typeface="Arial"/>
              <a:buChar char="•"/>
            </a:pPr>
            <a:r>
              <a:rPr lang="en-US" sz="3000">
                <a:solidFill>
                  <a:srgbClr val="000000"/>
                </a:solidFill>
                <a:latin typeface="Arial"/>
                <a:ea typeface="Arial"/>
                <a:cs typeface="Arial"/>
                <a:sym typeface="Arial"/>
              </a:rPr>
              <a:t>Thiếu công cụ hỗ trợ: Học sinh chưa có giải pháp theo dõi và chăm sóc sức khỏe cá nhân một cách chủ động, liên tục và cá nhân hóa.</a:t>
            </a:r>
          </a:p>
          <a:p>
            <a:pPr algn="l">
              <a:lnSpc>
                <a:spcPts val="3600"/>
              </a:lnSpc>
            </a:pPr>
            <a:endParaRPr lang="en-US" sz="3000">
              <a:solidFill>
                <a:srgbClr val="000000"/>
              </a:solidFill>
              <a:latin typeface="Arial"/>
              <a:ea typeface="Arial"/>
              <a:cs typeface="Arial"/>
              <a:sym typeface="Arial"/>
            </a:endParaRPr>
          </a:p>
          <a:p>
            <a:pPr algn="l">
              <a:lnSpc>
                <a:spcPts val="3600"/>
              </a:lnSpc>
            </a:pPr>
            <a:r>
              <a:rPr lang="en-US" sz="3000" b="1">
                <a:solidFill>
                  <a:srgbClr val="000000"/>
                </a:solidFill>
                <a:latin typeface="Arial Bold"/>
                <a:ea typeface="Arial Bold"/>
                <a:cs typeface="Arial Bold"/>
                <a:sym typeface="Arial Bold"/>
              </a:rPr>
              <a:t>Từ thực trạng trên, nhóm chúng em đề xuất:</a:t>
            </a:r>
          </a:p>
          <a:p>
            <a:pPr marL="647700" lvl="1" indent="-323850" algn="l">
              <a:lnSpc>
                <a:spcPts val="3600"/>
              </a:lnSpc>
              <a:buFont typeface="Arial"/>
              <a:buChar char="•"/>
            </a:pPr>
            <a:r>
              <a:rPr lang="en-US" sz="3000">
                <a:solidFill>
                  <a:srgbClr val="000000"/>
                </a:solidFill>
                <a:latin typeface="Arial"/>
                <a:ea typeface="Arial"/>
                <a:cs typeface="Arial"/>
                <a:sym typeface="Arial"/>
              </a:rPr>
              <a:t>Xây dựng AI School Health Coach – ứng dụng trí tuệ nhân tạo hỗ trợ theo dõi, tư vấn và cá nhân hóa việc chăm sóc sức khỏe thể chất và tinh thần cho học sinh.</a:t>
            </a:r>
          </a:p>
          <a:p>
            <a:pPr marL="647700" lvl="1" indent="-323850" algn="l">
              <a:lnSpc>
                <a:spcPts val="3600"/>
              </a:lnSpc>
              <a:buFont typeface="Arial"/>
              <a:buChar char="•"/>
            </a:pPr>
            <a:r>
              <a:rPr lang="en-US" sz="3000">
                <a:solidFill>
                  <a:srgbClr val="000000"/>
                </a:solidFill>
                <a:latin typeface="Arial"/>
                <a:ea typeface="Arial"/>
                <a:cs typeface="Arial"/>
                <a:sym typeface="Arial"/>
              </a:rPr>
              <a:t>Hình thành thói quen sống lành mạnh, nâng cao năng lực tự chăm sóc sức khỏe.</a:t>
            </a:r>
          </a:p>
          <a:p>
            <a:pPr marL="647700" lvl="1" indent="-323850" algn="l">
              <a:lnSpc>
                <a:spcPts val="3600"/>
              </a:lnSpc>
              <a:buFont typeface="Arial"/>
              <a:buChar char="•"/>
            </a:pPr>
            <a:r>
              <a:rPr lang="en-US" sz="3000">
                <a:solidFill>
                  <a:srgbClr val="000000"/>
                </a:solidFill>
                <a:latin typeface="Arial"/>
                <a:ea typeface="Arial"/>
                <a:cs typeface="Arial"/>
                <a:sym typeface="Arial"/>
              </a:rPr>
              <a:t>Góp phần xây dựng môi trường học đường an toàn, hạnh phúc và phát triển bền vững.</a:t>
            </a:r>
          </a:p>
          <a:p>
            <a:pPr algn="l">
              <a:lnSpc>
                <a:spcPts val="4034"/>
              </a:lnSpc>
              <a:spcBef>
                <a:spcPct val="0"/>
              </a:spcBef>
            </a:pPr>
            <a:endParaRPr lang="en-US" sz="300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52032" y="590117"/>
            <a:ext cx="11013977" cy="877167"/>
            <a:chOff x="0" y="0"/>
            <a:chExt cx="14685302" cy="1169556"/>
          </a:xfrm>
        </p:grpSpPr>
        <p:sp>
          <p:nvSpPr>
            <p:cNvPr id="3" name="Freeform 3"/>
            <p:cNvSpPr/>
            <p:nvPr/>
          </p:nvSpPr>
          <p:spPr>
            <a:xfrm>
              <a:off x="0" y="0"/>
              <a:ext cx="14685302" cy="1169550"/>
            </a:xfrm>
            <a:custGeom>
              <a:avLst/>
              <a:gdLst/>
              <a:ahLst/>
              <a:cxnLst/>
              <a:rect l="l" t="t" r="r" b="b"/>
              <a:pathLst>
                <a:path w="14685302" h="1169550">
                  <a:moveTo>
                    <a:pt x="0" y="0"/>
                  </a:moveTo>
                  <a:lnTo>
                    <a:pt x="14685302" y="0"/>
                  </a:lnTo>
                  <a:lnTo>
                    <a:pt x="14685302" y="1169550"/>
                  </a:lnTo>
                  <a:lnTo>
                    <a:pt x="0" y="1169550"/>
                  </a:lnTo>
                  <a:close/>
                </a:path>
              </a:pathLst>
            </a:custGeom>
            <a:blipFill>
              <a:blip r:embed="rId2">
                <a:alphaModFix amt="0"/>
              </a:blip>
              <a:stretch>
                <a:fillRect t="-194661" b="-194661"/>
              </a:stretch>
            </a:blipFill>
          </p:spPr>
          <p:txBody>
            <a:bodyPr/>
            <a:lstStyle/>
            <a:p>
              <a:endParaRPr lang="en-US"/>
            </a:p>
          </p:txBody>
        </p:sp>
        <p:sp>
          <p:nvSpPr>
            <p:cNvPr id="4" name="TextBox 4"/>
            <p:cNvSpPr txBox="1"/>
            <p:nvPr/>
          </p:nvSpPr>
          <p:spPr>
            <a:xfrm>
              <a:off x="0" y="-19050"/>
              <a:ext cx="14685302" cy="1188606"/>
            </a:xfrm>
            <a:prstGeom prst="rect">
              <a:avLst/>
            </a:prstGeom>
          </p:spPr>
          <p:txBody>
            <a:bodyPr lIns="0" tIns="0" rIns="0" bIns="0" rtlCol="0" anchor="ctr"/>
            <a:lstStyle/>
            <a:p>
              <a:pPr algn="l">
                <a:lnSpc>
                  <a:spcPts val="5759"/>
                </a:lnSpc>
              </a:pPr>
              <a:r>
                <a:rPr lang="en-US" sz="4800" b="1">
                  <a:solidFill>
                    <a:srgbClr val="000000"/>
                  </a:solidFill>
                  <a:latin typeface="Arial Bold"/>
                  <a:ea typeface="Arial Bold"/>
                  <a:cs typeface="Arial Bold"/>
                  <a:sym typeface="Arial Bold"/>
                </a:rPr>
                <a:t>3. PHƯƠNG PHÁP TÌM HIỂU VẤN ĐỀ</a:t>
              </a:r>
            </a:p>
          </p:txBody>
        </p:sp>
      </p:grpSp>
      <p:sp>
        <p:nvSpPr>
          <p:cNvPr id="5" name="TextBox 5"/>
          <p:cNvSpPr txBox="1"/>
          <p:nvPr/>
        </p:nvSpPr>
        <p:spPr>
          <a:xfrm>
            <a:off x="852032" y="1583294"/>
            <a:ext cx="17104538" cy="523875"/>
          </a:xfrm>
          <a:prstGeom prst="rect">
            <a:avLst/>
          </a:prstGeom>
        </p:spPr>
        <p:txBody>
          <a:bodyPr lIns="0" tIns="0" rIns="0" bIns="0" rtlCol="0" anchor="t">
            <a:spAutoFit/>
          </a:bodyPr>
          <a:lstStyle/>
          <a:p>
            <a:pPr algn="l">
              <a:lnSpc>
                <a:spcPts val="4034"/>
              </a:lnSpc>
              <a:spcBef>
                <a:spcPct val="0"/>
              </a:spcBef>
            </a:pPr>
            <a:r>
              <a:rPr lang="en-US" sz="3361" i="1">
                <a:solidFill>
                  <a:srgbClr val="000000"/>
                </a:solidFill>
                <a:latin typeface="Arial Italics"/>
                <a:ea typeface="Arial Italics"/>
                <a:cs typeface="Arial Italics"/>
                <a:sym typeface="Arial Italics"/>
              </a:rPr>
              <a:t>Để đảm bảo tính khoa học và thực tiễn, nhóm đã triển khai phối hợp 6 phương pháp sau:</a:t>
            </a:r>
          </a:p>
        </p:txBody>
      </p:sp>
      <p:sp>
        <p:nvSpPr>
          <p:cNvPr id="6" name="TextBox 6"/>
          <p:cNvSpPr txBox="1"/>
          <p:nvPr/>
        </p:nvSpPr>
        <p:spPr>
          <a:xfrm>
            <a:off x="852032" y="2221469"/>
            <a:ext cx="17104538" cy="8820150"/>
          </a:xfrm>
          <a:prstGeom prst="rect">
            <a:avLst/>
          </a:prstGeom>
        </p:spPr>
        <p:txBody>
          <a:bodyPr lIns="0" tIns="0" rIns="0" bIns="0" rtlCol="0" anchor="t">
            <a:spAutoFit/>
          </a:bodyPr>
          <a:lstStyle/>
          <a:p>
            <a:pPr algn="l">
              <a:lnSpc>
                <a:spcPts val="3359"/>
              </a:lnSpc>
            </a:pPr>
            <a:r>
              <a:rPr lang="en-US" sz="2799" b="1">
                <a:solidFill>
                  <a:srgbClr val="000000"/>
                </a:solidFill>
                <a:latin typeface="Arial Bold"/>
                <a:ea typeface="Arial Bold"/>
                <a:cs typeface="Arial Bold"/>
                <a:sym typeface="Arial Bold"/>
              </a:rPr>
              <a:t>3.1. Phương pháp Khảo sát (Quantitative Survey): </a:t>
            </a:r>
            <a:r>
              <a:rPr lang="en-US" sz="2799" i="1">
                <a:solidFill>
                  <a:srgbClr val="000000"/>
                </a:solidFill>
                <a:latin typeface="Arial Italics"/>
                <a:ea typeface="Arial Italics"/>
                <a:cs typeface="Arial Italics"/>
                <a:sym typeface="Arial Italics"/>
              </a:rPr>
              <a:t>Sử dụng phiếu khảo sát trực tuyến và trực tiếp tới khoảng 200 học sinh tại trường về: thời gian ngủ, thời lượng sử dụng thiết bị điện tử, tần suất vận động, thói quen ăn uống, tư thế học tập và mức độ căng thẳng tâm lý.</a:t>
            </a:r>
          </a:p>
          <a:p>
            <a:pPr algn="l">
              <a:lnSpc>
                <a:spcPts val="3359"/>
              </a:lnSpc>
            </a:pPr>
            <a:r>
              <a:rPr lang="en-US" sz="2799" b="1">
                <a:solidFill>
                  <a:srgbClr val="000000"/>
                </a:solidFill>
                <a:latin typeface="Arial Bold"/>
                <a:ea typeface="Arial Bold"/>
                <a:cs typeface="Arial Bold"/>
                <a:sym typeface="Arial Bold"/>
              </a:rPr>
              <a:t>3.2</a:t>
            </a:r>
            <a:r>
              <a:rPr lang="en-US" sz="2799">
                <a:solidFill>
                  <a:srgbClr val="000000"/>
                </a:solidFill>
                <a:latin typeface="Arial"/>
                <a:ea typeface="Arial"/>
                <a:cs typeface="Arial"/>
                <a:sym typeface="Arial"/>
              </a:rPr>
              <a:t>. </a:t>
            </a:r>
            <a:r>
              <a:rPr lang="en-US" sz="2799" b="1">
                <a:solidFill>
                  <a:srgbClr val="000000"/>
                </a:solidFill>
                <a:latin typeface="Arial Bold"/>
                <a:ea typeface="Arial Bold"/>
                <a:cs typeface="Arial Bold"/>
                <a:sym typeface="Arial Bold"/>
              </a:rPr>
              <a:t>Phương pháp Phỏng vấn sâu (Qualitative Interview): </a:t>
            </a:r>
            <a:r>
              <a:rPr lang="en-US" sz="2799" i="1">
                <a:solidFill>
                  <a:srgbClr val="000000"/>
                </a:solidFill>
                <a:latin typeface="Arial Italics"/>
                <a:ea typeface="Arial Italics"/>
                <a:cs typeface="Arial Italics"/>
                <a:sym typeface="Arial Italics"/>
              </a:rPr>
              <a:t>Gặp gỡ và ghi nhận ý kiến từ các bên liên quan gồm: học sinh, giáo viên chủ nhiệm, giáo viên thể chất, nhân viên y tế trường học và phụ huynh để hiểu rõ nhu cầu chăm sóc sức khỏe học đường.</a:t>
            </a:r>
          </a:p>
          <a:p>
            <a:pPr algn="l">
              <a:lnSpc>
                <a:spcPts val="3359"/>
              </a:lnSpc>
            </a:pPr>
            <a:r>
              <a:rPr lang="en-US" sz="2799" b="1">
                <a:solidFill>
                  <a:srgbClr val="000000"/>
                </a:solidFill>
                <a:latin typeface="Arial Bold"/>
                <a:ea typeface="Arial Bold"/>
                <a:cs typeface="Arial Bold"/>
                <a:sym typeface="Arial Bold"/>
              </a:rPr>
              <a:t>3.3. Phương pháp Nghiên cứu tài liệu (Desk Research):</a:t>
            </a:r>
            <a:r>
              <a:rPr lang="en-US" sz="2799">
                <a:solidFill>
                  <a:srgbClr val="000000"/>
                </a:solidFill>
                <a:latin typeface="Arial"/>
                <a:ea typeface="Arial"/>
                <a:cs typeface="Arial"/>
                <a:sym typeface="Arial"/>
              </a:rPr>
              <a:t> Nghiên cứu tài liệu y tế học đường chính thống, các chỉ số sinh học tiêu chuẩn như BMI, thời lượng ngủ, mức vận động khuyến nghị, kết hợp tìm hiểu các nền tảng AI và công nghệ chăm sóc sức khỏe hiện có.</a:t>
            </a:r>
          </a:p>
          <a:p>
            <a:pPr algn="l">
              <a:lnSpc>
                <a:spcPts val="3359"/>
              </a:lnSpc>
            </a:pPr>
            <a:r>
              <a:rPr lang="en-US" sz="2799" b="1">
                <a:solidFill>
                  <a:srgbClr val="000000"/>
                </a:solidFill>
                <a:latin typeface="Arial Bold"/>
                <a:ea typeface="Arial Bold"/>
                <a:cs typeface="Arial Bold"/>
                <a:sym typeface="Arial Bold"/>
              </a:rPr>
              <a:t>3.4.</a:t>
            </a:r>
            <a:r>
              <a:rPr lang="en-US" sz="2799">
                <a:solidFill>
                  <a:srgbClr val="000000"/>
                </a:solidFill>
                <a:latin typeface="Arial"/>
                <a:ea typeface="Arial"/>
                <a:cs typeface="Arial"/>
                <a:sym typeface="Arial"/>
              </a:rPr>
              <a:t> </a:t>
            </a:r>
            <a:r>
              <a:rPr lang="en-US" sz="2799" b="1">
                <a:solidFill>
                  <a:srgbClr val="000000"/>
                </a:solidFill>
                <a:latin typeface="Arial Bold"/>
                <a:ea typeface="Arial Bold"/>
                <a:cs typeface="Arial Bold"/>
                <a:sym typeface="Arial Bold"/>
              </a:rPr>
              <a:t>Phương pháp Phân tích dữ liệu (Data Analysis): </a:t>
            </a:r>
            <a:r>
              <a:rPr lang="en-US" sz="2799">
                <a:solidFill>
                  <a:srgbClr val="000000"/>
                </a:solidFill>
                <a:latin typeface="Arial"/>
                <a:ea typeface="Arial"/>
                <a:cs typeface="Arial"/>
                <a:sym typeface="Arial"/>
              </a:rPr>
              <a:t>Tổng hợp kết quả khảo sát và phỏng vấn để xác định các vấn đề nổi bật, từ đó lựa chọn những tính năng cốt lõi giúp ứng dụng giải quyết đúng nhu cầu thực tế của học sinh.</a:t>
            </a:r>
          </a:p>
          <a:p>
            <a:pPr algn="l">
              <a:lnSpc>
                <a:spcPts val="3359"/>
              </a:lnSpc>
            </a:pPr>
            <a:r>
              <a:rPr lang="en-US" sz="2799" b="1">
                <a:solidFill>
                  <a:srgbClr val="000000"/>
                </a:solidFill>
                <a:latin typeface="Arial Bold"/>
                <a:ea typeface="Arial Bold"/>
                <a:cs typeface="Arial Bold"/>
                <a:sym typeface="Arial Bold"/>
              </a:rPr>
              <a:t>3.5. Phương pháp Tư duy thiết kế (Design Thinking):</a:t>
            </a:r>
            <a:r>
              <a:rPr lang="en-US" sz="2799">
                <a:solidFill>
                  <a:srgbClr val="000000"/>
                </a:solidFill>
                <a:latin typeface="Arial"/>
                <a:ea typeface="Arial"/>
                <a:cs typeface="Arial"/>
                <a:sym typeface="Arial"/>
              </a:rPr>
              <a:t> Áp dụng quy trình thấu hiểu người dùng, xác định vấn đề, đề xuất ý tưởng, xây dựng sản phẩm mẫu và kiểm thử nhằm bảo đảm giải pháp phù hợp với học sinh trung học.</a:t>
            </a:r>
          </a:p>
          <a:p>
            <a:pPr algn="l">
              <a:lnSpc>
                <a:spcPts val="3359"/>
              </a:lnSpc>
            </a:pPr>
            <a:r>
              <a:rPr lang="en-US" sz="2799" b="1">
                <a:solidFill>
                  <a:srgbClr val="000000"/>
                </a:solidFill>
                <a:latin typeface="Arial Bold"/>
                <a:ea typeface="Arial Bold"/>
                <a:cs typeface="Arial Bold"/>
                <a:sym typeface="Arial Bold"/>
              </a:rPr>
              <a:t>3.6. Phương pháp Thử nghiệm sản phẩm mẫu (Prototype Testing): </a:t>
            </a:r>
            <a:r>
              <a:rPr lang="en-US" sz="2799">
                <a:solidFill>
                  <a:srgbClr val="000000"/>
                </a:solidFill>
                <a:latin typeface="Arial"/>
                <a:ea typeface="Arial"/>
                <a:cs typeface="Arial"/>
                <a:sym typeface="Arial"/>
              </a:rPr>
              <a:t>Cho một nhóm học sinh trải nghiệm phiên bản thử nghiệm của ứng dụng, thu thập phản hồi về tính dễ sử dụng, mức độ hữu ích và khả năng áp dụng trong môi trường học đường để tiếp tục cải tiến sản phẩm.</a:t>
            </a:r>
          </a:p>
          <a:p>
            <a:pPr algn="l">
              <a:lnSpc>
                <a:spcPts val="3359"/>
              </a:lnSpc>
            </a:pPr>
            <a:endParaRPr lang="en-US" sz="2799">
              <a:solidFill>
                <a:srgbClr val="000000"/>
              </a:solidFill>
              <a:latin typeface="Arial"/>
              <a:ea typeface="Arial"/>
              <a:cs typeface="Arial"/>
              <a:sym typeface="Arial"/>
            </a:endParaRPr>
          </a:p>
          <a:p>
            <a:pPr algn="l">
              <a:lnSpc>
                <a:spcPts val="3359"/>
              </a:lnSpc>
            </a:pPr>
            <a:endParaRPr lang="en-US" sz="2799">
              <a:solidFill>
                <a:srgbClr val="000000"/>
              </a:solidFill>
              <a:latin typeface="Arial"/>
              <a:ea typeface="Arial"/>
              <a:cs typeface="Arial"/>
              <a:sym typeface="Arial"/>
            </a:endParaRPr>
          </a:p>
          <a:p>
            <a:pPr algn="l">
              <a:lnSpc>
                <a:spcPts val="3359"/>
              </a:lnSpc>
              <a:spcBef>
                <a:spcPct val="0"/>
              </a:spcBef>
            </a:pPr>
            <a:endParaRPr lang="en-US" sz="2799">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916328"/>
            <a:ext cx="12628826" cy="1615831"/>
            <a:chOff x="0" y="0"/>
            <a:chExt cx="16838435" cy="2154441"/>
          </a:xfrm>
        </p:grpSpPr>
        <p:sp>
          <p:nvSpPr>
            <p:cNvPr id="3" name="Freeform 3"/>
            <p:cNvSpPr/>
            <p:nvPr/>
          </p:nvSpPr>
          <p:spPr>
            <a:xfrm>
              <a:off x="0" y="0"/>
              <a:ext cx="16838433" cy="2154436"/>
            </a:xfrm>
            <a:custGeom>
              <a:avLst/>
              <a:gdLst/>
              <a:ahLst/>
              <a:cxnLst/>
              <a:rect l="l" t="t" r="r" b="b"/>
              <a:pathLst>
                <a:path w="16838433" h="2154436">
                  <a:moveTo>
                    <a:pt x="0" y="0"/>
                  </a:moveTo>
                  <a:lnTo>
                    <a:pt x="16838433" y="0"/>
                  </a:lnTo>
                  <a:lnTo>
                    <a:pt x="16838433" y="2154436"/>
                  </a:lnTo>
                  <a:lnTo>
                    <a:pt x="0" y="2154436"/>
                  </a:lnTo>
                  <a:close/>
                </a:path>
              </a:pathLst>
            </a:custGeom>
            <a:blipFill>
              <a:blip r:embed="rId2">
                <a:alphaModFix amt="0"/>
              </a:blip>
              <a:stretch>
                <a:fillRect t="-102289" b="-102289"/>
              </a:stretch>
            </a:blipFill>
          </p:spPr>
          <p:txBody>
            <a:bodyPr/>
            <a:lstStyle/>
            <a:p>
              <a:endParaRPr lang="en-US"/>
            </a:p>
          </p:txBody>
        </p:sp>
        <p:sp>
          <p:nvSpPr>
            <p:cNvPr id="4" name="TextBox 4"/>
            <p:cNvSpPr txBox="1"/>
            <p:nvPr/>
          </p:nvSpPr>
          <p:spPr>
            <a:xfrm>
              <a:off x="0" y="-19050"/>
              <a:ext cx="16838435" cy="2173491"/>
            </a:xfrm>
            <a:prstGeom prst="rect">
              <a:avLst/>
            </a:prstGeom>
          </p:spPr>
          <p:txBody>
            <a:bodyPr lIns="0" tIns="0" rIns="0" bIns="0" rtlCol="0" anchor="ctr"/>
            <a:lstStyle/>
            <a:p>
              <a:pPr algn="l">
                <a:lnSpc>
                  <a:spcPts val="5759"/>
                </a:lnSpc>
              </a:pPr>
              <a:r>
                <a:rPr lang="en-US" sz="4800" b="1" dirty="0">
                  <a:solidFill>
                    <a:srgbClr val="000000"/>
                  </a:solidFill>
                  <a:latin typeface="Arial Bold"/>
                  <a:ea typeface="Arial Bold"/>
                  <a:cs typeface="Arial Bold"/>
                  <a:sym typeface="Arial Bold"/>
                </a:rPr>
                <a:t>4. Ý TƯỞNG VÀ GIẢI PHÁP ĐỂ HOÀN THÀNH MÔ HÌNH SẢN PHẨM</a:t>
              </a:r>
            </a:p>
          </p:txBody>
        </p:sp>
      </p:grpSp>
      <p:grpSp>
        <p:nvGrpSpPr>
          <p:cNvPr id="5" name="Group 5"/>
          <p:cNvGrpSpPr/>
          <p:nvPr/>
        </p:nvGrpSpPr>
        <p:grpSpPr>
          <a:xfrm>
            <a:off x="1444194" y="2829240"/>
            <a:ext cx="3401996" cy="1419671"/>
            <a:chOff x="0" y="0"/>
            <a:chExt cx="4535995" cy="1892895"/>
          </a:xfrm>
        </p:grpSpPr>
        <p:sp>
          <p:nvSpPr>
            <p:cNvPr id="6" name="Freeform 6"/>
            <p:cNvSpPr/>
            <p:nvPr/>
          </p:nvSpPr>
          <p:spPr>
            <a:xfrm>
              <a:off x="0" y="0"/>
              <a:ext cx="4535994" cy="1892891"/>
            </a:xfrm>
            <a:custGeom>
              <a:avLst/>
              <a:gdLst/>
              <a:ahLst/>
              <a:cxnLst/>
              <a:rect l="l" t="t" r="r" b="b"/>
              <a:pathLst>
                <a:path w="4535994" h="1892891">
                  <a:moveTo>
                    <a:pt x="0" y="0"/>
                  </a:moveTo>
                  <a:lnTo>
                    <a:pt x="4535994" y="0"/>
                  </a:lnTo>
                  <a:lnTo>
                    <a:pt x="4535994" y="1892891"/>
                  </a:lnTo>
                  <a:lnTo>
                    <a:pt x="0" y="1892891"/>
                  </a:lnTo>
                  <a:close/>
                </a:path>
              </a:pathLst>
            </a:custGeom>
            <a:blipFill>
              <a:blip r:embed="rId2">
                <a:alphaModFix amt="0"/>
              </a:blip>
              <a:stretch>
                <a:fillRect t="-116422" r="-271218" b="-130240"/>
              </a:stretch>
            </a:blipFill>
          </p:spPr>
          <p:txBody>
            <a:bodyPr/>
            <a:lstStyle/>
            <a:p>
              <a:endParaRPr lang="en-US"/>
            </a:p>
          </p:txBody>
        </p:sp>
        <p:sp>
          <p:nvSpPr>
            <p:cNvPr id="7" name="TextBox 7"/>
            <p:cNvSpPr txBox="1"/>
            <p:nvPr/>
          </p:nvSpPr>
          <p:spPr>
            <a:xfrm>
              <a:off x="0" y="-9525"/>
              <a:ext cx="4535995" cy="1902420"/>
            </a:xfrm>
            <a:prstGeom prst="rect">
              <a:avLst/>
            </a:prstGeom>
          </p:spPr>
          <p:txBody>
            <a:bodyPr lIns="0" tIns="0" rIns="0" bIns="0" rtlCol="0" anchor="ctr"/>
            <a:lstStyle/>
            <a:p>
              <a:pPr algn="l">
                <a:lnSpc>
                  <a:spcPts val="4799"/>
                </a:lnSpc>
              </a:pPr>
              <a:r>
                <a:rPr lang="en-US" sz="3999" b="1">
                  <a:solidFill>
                    <a:srgbClr val="000000"/>
                  </a:solidFill>
                  <a:latin typeface="Arial Bold"/>
                  <a:ea typeface="Arial Bold"/>
                  <a:cs typeface="Arial Bold"/>
                  <a:sym typeface="Arial Bold"/>
                </a:rPr>
                <a:t>4.1. Ý tưởng tổng quan</a:t>
              </a:r>
            </a:p>
          </p:txBody>
        </p:sp>
      </p:grpSp>
      <p:sp>
        <p:nvSpPr>
          <p:cNvPr id="8" name="TextBox 8"/>
          <p:cNvSpPr txBox="1"/>
          <p:nvPr/>
        </p:nvSpPr>
        <p:spPr>
          <a:xfrm>
            <a:off x="5579487" y="2972339"/>
            <a:ext cx="11712006" cy="1123950"/>
          </a:xfrm>
          <a:prstGeom prst="rect">
            <a:avLst/>
          </a:prstGeom>
        </p:spPr>
        <p:txBody>
          <a:bodyPr lIns="0" tIns="0" rIns="0" bIns="0" rtlCol="0" anchor="t">
            <a:spAutoFit/>
          </a:bodyPr>
          <a:lstStyle/>
          <a:p>
            <a:pPr algn="l">
              <a:lnSpc>
                <a:spcPts val="2999"/>
              </a:lnSpc>
              <a:spcBef>
                <a:spcPct val="0"/>
              </a:spcBef>
            </a:pPr>
            <a:r>
              <a:rPr lang="en-US" sz="2499" dirty="0" err="1">
                <a:solidFill>
                  <a:srgbClr val="000000"/>
                </a:solidFill>
                <a:latin typeface="Arial"/>
                <a:ea typeface="Arial"/>
                <a:cs typeface="Arial"/>
                <a:sym typeface="Arial"/>
              </a:rPr>
              <a:t>Thiết</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kế</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ứng</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dụng</a:t>
            </a:r>
            <a:r>
              <a:rPr lang="en-US" sz="2499" dirty="0">
                <a:solidFill>
                  <a:srgbClr val="000000"/>
                </a:solidFill>
                <a:latin typeface="Arial"/>
                <a:ea typeface="Arial"/>
                <a:cs typeface="Arial"/>
                <a:sym typeface="Arial"/>
              </a:rPr>
              <a:t> di </a:t>
            </a:r>
            <a:r>
              <a:rPr lang="en-US" sz="2499" dirty="0" err="1">
                <a:solidFill>
                  <a:srgbClr val="000000"/>
                </a:solidFill>
                <a:latin typeface="Arial"/>
                <a:ea typeface="Arial"/>
                <a:cs typeface="Arial"/>
                <a:sym typeface="Arial"/>
              </a:rPr>
              <a:t>động</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EduHealth</a:t>
            </a:r>
            <a:r>
              <a:rPr lang="en-US" sz="2499" dirty="0">
                <a:solidFill>
                  <a:srgbClr val="000000"/>
                </a:solidFill>
                <a:latin typeface="Arial"/>
                <a:ea typeface="Arial"/>
                <a:cs typeface="Arial"/>
                <a:sym typeface="Arial"/>
              </a:rPr>
              <a:t> AI Coach </a:t>
            </a:r>
            <a:r>
              <a:rPr lang="en-US" sz="2499" dirty="0" err="1">
                <a:solidFill>
                  <a:srgbClr val="000000"/>
                </a:solidFill>
                <a:latin typeface="Arial"/>
                <a:ea typeface="Arial"/>
                <a:cs typeface="Arial"/>
                <a:sym typeface="Arial"/>
              </a:rPr>
              <a:t>hoạt</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động</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như</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một</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người</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bạn</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đồng</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hành</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sử</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dụng</a:t>
            </a:r>
            <a:r>
              <a:rPr lang="en-US" sz="2499" dirty="0">
                <a:solidFill>
                  <a:srgbClr val="000000"/>
                </a:solidFill>
                <a:latin typeface="Arial"/>
                <a:ea typeface="Arial"/>
                <a:cs typeface="Arial"/>
                <a:sym typeface="Arial"/>
              </a:rPr>
              <a:t> AI </a:t>
            </a:r>
            <a:r>
              <a:rPr lang="en-US" sz="2499" dirty="0" err="1">
                <a:solidFill>
                  <a:srgbClr val="000000"/>
                </a:solidFill>
                <a:latin typeface="Arial"/>
                <a:ea typeface="Arial"/>
                <a:cs typeface="Arial"/>
                <a:sym typeface="Arial"/>
              </a:rPr>
              <a:t>để</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học</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hỏi</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hành</a:t>
            </a:r>
            <a:r>
              <a:rPr lang="en-US" sz="2499" dirty="0">
                <a:solidFill>
                  <a:srgbClr val="000000"/>
                </a:solidFill>
                <a:latin typeface="Arial"/>
                <a:ea typeface="Arial"/>
                <a:cs typeface="Arial"/>
                <a:sym typeface="Arial"/>
              </a:rPr>
              <a:t> vi </a:t>
            </a:r>
            <a:r>
              <a:rPr lang="en-US" sz="2499" dirty="0" err="1">
                <a:solidFill>
                  <a:srgbClr val="000000"/>
                </a:solidFill>
                <a:latin typeface="Arial"/>
                <a:ea typeface="Arial"/>
                <a:cs typeface="Arial"/>
                <a:sym typeface="Arial"/>
              </a:rPr>
              <a:t>và</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đưa</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ra</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các</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giải</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pháp</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chăm</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sóc</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sức</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khỏe</a:t>
            </a:r>
            <a:r>
              <a:rPr lang="en-US" sz="2499" dirty="0">
                <a:solidFill>
                  <a:srgbClr val="000000"/>
                </a:solidFill>
                <a:latin typeface="Arial"/>
                <a:ea typeface="Arial"/>
                <a:cs typeface="Arial"/>
                <a:sym typeface="Arial"/>
              </a:rPr>
              <a:t> "may </a:t>
            </a:r>
            <a:r>
              <a:rPr lang="en-US" sz="2499" dirty="0" err="1">
                <a:solidFill>
                  <a:srgbClr val="000000"/>
                </a:solidFill>
                <a:latin typeface="Arial"/>
                <a:ea typeface="Arial"/>
                <a:cs typeface="Arial"/>
                <a:sym typeface="Arial"/>
              </a:rPr>
              <a:t>đo</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riêng</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cho</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từng</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học</a:t>
            </a:r>
            <a:r>
              <a:rPr lang="en-US" sz="2499" dirty="0">
                <a:solidFill>
                  <a:srgbClr val="000000"/>
                </a:solidFill>
                <a:latin typeface="Arial"/>
                <a:ea typeface="Arial"/>
                <a:cs typeface="Arial"/>
                <a:sym typeface="Arial"/>
              </a:rPr>
              <a:t> </a:t>
            </a:r>
            <a:r>
              <a:rPr lang="en-US" sz="2499" dirty="0" err="1">
                <a:solidFill>
                  <a:srgbClr val="000000"/>
                </a:solidFill>
                <a:latin typeface="Arial"/>
                <a:ea typeface="Arial"/>
                <a:cs typeface="Arial"/>
                <a:sym typeface="Arial"/>
              </a:rPr>
              <a:t>sinh</a:t>
            </a:r>
            <a:r>
              <a:rPr lang="en-US" sz="2499" dirty="0">
                <a:solidFill>
                  <a:srgbClr val="000000"/>
                </a:solidFill>
                <a:latin typeface="Arial"/>
                <a:ea typeface="Arial"/>
                <a:cs typeface="Arial"/>
                <a:sym typeface="Arial"/>
              </a:rPr>
              <a:t>.</a:t>
            </a:r>
          </a:p>
        </p:txBody>
      </p:sp>
      <p:grpSp>
        <p:nvGrpSpPr>
          <p:cNvPr id="9" name="Group 9"/>
          <p:cNvGrpSpPr/>
          <p:nvPr/>
        </p:nvGrpSpPr>
        <p:grpSpPr>
          <a:xfrm>
            <a:off x="1444194" y="5894663"/>
            <a:ext cx="3401996" cy="3219896"/>
            <a:chOff x="0" y="0"/>
            <a:chExt cx="4535995" cy="4293195"/>
          </a:xfrm>
        </p:grpSpPr>
        <p:sp>
          <p:nvSpPr>
            <p:cNvPr id="10" name="Freeform 10"/>
            <p:cNvSpPr/>
            <p:nvPr/>
          </p:nvSpPr>
          <p:spPr>
            <a:xfrm>
              <a:off x="0" y="0"/>
              <a:ext cx="4535994" cy="4293186"/>
            </a:xfrm>
            <a:custGeom>
              <a:avLst/>
              <a:gdLst/>
              <a:ahLst/>
              <a:cxnLst/>
              <a:rect l="l" t="t" r="r" b="b"/>
              <a:pathLst>
                <a:path w="4535994" h="4293186">
                  <a:moveTo>
                    <a:pt x="0" y="0"/>
                  </a:moveTo>
                  <a:lnTo>
                    <a:pt x="4535994" y="0"/>
                  </a:lnTo>
                  <a:lnTo>
                    <a:pt x="4535994" y="4293186"/>
                  </a:lnTo>
                  <a:lnTo>
                    <a:pt x="0" y="4293186"/>
                  </a:lnTo>
                  <a:close/>
                </a:path>
              </a:pathLst>
            </a:custGeom>
            <a:blipFill>
              <a:blip r:embed="rId2">
                <a:alphaModFix amt="0"/>
              </a:blip>
              <a:stretch>
                <a:fillRect t="-51331" r="-271218" b="-1514"/>
              </a:stretch>
            </a:blipFill>
          </p:spPr>
          <p:txBody>
            <a:bodyPr/>
            <a:lstStyle/>
            <a:p>
              <a:endParaRPr lang="en-US"/>
            </a:p>
          </p:txBody>
        </p:sp>
        <p:sp>
          <p:nvSpPr>
            <p:cNvPr id="11" name="TextBox 11"/>
            <p:cNvSpPr txBox="1"/>
            <p:nvPr/>
          </p:nvSpPr>
          <p:spPr>
            <a:xfrm>
              <a:off x="0" y="-9525"/>
              <a:ext cx="4535995" cy="4302720"/>
            </a:xfrm>
            <a:prstGeom prst="rect">
              <a:avLst/>
            </a:prstGeom>
          </p:spPr>
          <p:txBody>
            <a:bodyPr lIns="0" tIns="0" rIns="0" bIns="0" rtlCol="0" anchor="ctr"/>
            <a:lstStyle/>
            <a:p>
              <a:pPr algn="l">
                <a:lnSpc>
                  <a:spcPts val="4799"/>
                </a:lnSpc>
              </a:pPr>
              <a:r>
                <a:rPr lang="en-US" sz="3999" b="1">
                  <a:solidFill>
                    <a:srgbClr val="000000"/>
                  </a:solidFill>
                  <a:latin typeface="Arial Bold"/>
                  <a:ea typeface="Arial Bold"/>
                  <a:cs typeface="Arial Bold"/>
                  <a:sym typeface="Arial Bold"/>
                </a:rPr>
                <a:t>4.2. Ma trận tích hợp yếu tố STEM trong mô hình</a:t>
              </a:r>
            </a:p>
          </p:txBody>
        </p:sp>
      </p:grpSp>
      <p:sp>
        <p:nvSpPr>
          <p:cNvPr id="12" name="TextBox 12"/>
          <p:cNvSpPr txBox="1"/>
          <p:nvPr/>
        </p:nvSpPr>
        <p:spPr>
          <a:xfrm>
            <a:off x="5362526" y="5124450"/>
            <a:ext cx="11710516" cy="4705350"/>
          </a:xfrm>
          <a:prstGeom prst="rect">
            <a:avLst/>
          </a:prstGeom>
        </p:spPr>
        <p:txBody>
          <a:bodyPr lIns="0" tIns="0" rIns="0" bIns="0" rtlCol="0" anchor="t">
            <a:spAutoFit/>
          </a:bodyPr>
          <a:lstStyle/>
          <a:p>
            <a:pPr algn="l">
              <a:lnSpc>
                <a:spcPts val="3120"/>
              </a:lnSpc>
              <a:spcBef>
                <a:spcPct val="0"/>
              </a:spcBef>
            </a:pPr>
            <a:r>
              <a:rPr lang="en-US" sz="2600" b="1">
                <a:solidFill>
                  <a:srgbClr val="000000"/>
                </a:solidFill>
                <a:latin typeface="Arial Bold"/>
                <a:ea typeface="Arial Bold"/>
                <a:cs typeface="Arial Bold"/>
                <a:sym typeface="Arial Bold"/>
              </a:rPr>
              <a:t>S </a:t>
            </a:r>
            <a:r>
              <a:rPr lang="en-US" sz="2600">
                <a:solidFill>
                  <a:srgbClr val="000000"/>
                </a:solidFill>
                <a:latin typeface="Arial"/>
                <a:ea typeface="Arial"/>
                <a:cs typeface="Arial"/>
                <a:sym typeface="Arial"/>
              </a:rPr>
              <a:t>(Science - Khoa học): Ứng dụng kiến thức Y học học đường, Dinh dưỡng học (tính toán calo, vi chất), Sinh học (chu kỳ giấc ngủ, khúc xạ mắt) và Tâm lý học lứa tuổi.</a:t>
            </a:r>
          </a:p>
          <a:p>
            <a:pPr algn="l">
              <a:lnSpc>
                <a:spcPts val="3120"/>
              </a:lnSpc>
              <a:spcBef>
                <a:spcPct val="0"/>
              </a:spcBef>
            </a:pPr>
            <a:r>
              <a:rPr lang="en-US" sz="2600" b="1">
                <a:solidFill>
                  <a:srgbClr val="000000"/>
                </a:solidFill>
                <a:latin typeface="Arial Bold"/>
                <a:ea typeface="Arial Bold"/>
                <a:cs typeface="Arial Bold"/>
                <a:sym typeface="Arial Bold"/>
              </a:rPr>
              <a:t>T</a:t>
            </a:r>
            <a:r>
              <a:rPr lang="en-US" sz="2600">
                <a:solidFill>
                  <a:srgbClr val="000000"/>
                </a:solidFill>
                <a:latin typeface="Arial"/>
                <a:ea typeface="Arial"/>
                <a:cs typeface="Arial"/>
                <a:sym typeface="Arial"/>
              </a:rPr>
              <a:t> (Technology - Công nghệ): Lập trình ứng dụng (Flutter/React Native), Trí tuệ nhân tạo (AI Chatbot/LLM APIs), Thị giác máy tính (Computer Vision) và lưu trữ đám mây (Firebase).</a:t>
            </a:r>
          </a:p>
          <a:p>
            <a:pPr algn="l">
              <a:lnSpc>
                <a:spcPts val="3120"/>
              </a:lnSpc>
              <a:spcBef>
                <a:spcPct val="0"/>
              </a:spcBef>
            </a:pPr>
            <a:r>
              <a:rPr lang="en-US" sz="2600" b="1">
                <a:solidFill>
                  <a:srgbClr val="000000"/>
                </a:solidFill>
                <a:latin typeface="Arial Bold"/>
                <a:ea typeface="Arial Bold"/>
                <a:cs typeface="Arial Bold"/>
                <a:sym typeface="Arial Bold"/>
              </a:rPr>
              <a:t>E</a:t>
            </a:r>
            <a:r>
              <a:rPr lang="en-US" sz="2600">
                <a:solidFill>
                  <a:srgbClr val="000000"/>
                </a:solidFill>
                <a:latin typeface="Arial"/>
                <a:ea typeface="Arial"/>
                <a:cs typeface="Arial"/>
                <a:sym typeface="Arial"/>
              </a:rPr>
              <a:t> (Engineering - Kỹ thuật): Thiết kế kiến trúc hệ thống dữ liệu, tối ưu hóa trải nghiệm giao diện người dùng (UI/UX) cho học sinh và xây dựng hệ thống phân tầng bảo mật.</a:t>
            </a:r>
          </a:p>
          <a:p>
            <a:pPr algn="l">
              <a:lnSpc>
                <a:spcPts val="3120"/>
              </a:lnSpc>
              <a:spcBef>
                <a:spcPct val="0"/>
              </a:spcBef>
            </a:pPr>
            <a:r>
              <a:rPr lang="en-US" sz="2600" b="1">
                <a:solidFill>
                  <a:srgbClr val="000000"/>
                </a:solidFill>
                <a:latin typeface="Arial Bold"/>
                <a:ea typeface="Arial Bold"/>
                <a:cs typeface="Arial Bold"/>
                <a:sym typeface="Arial Bold"/>
              </a:rPr>
              <a:t>M</a:t>
            </a:r>
            <a:r>
              <a:rPr lang="en-US" sz="2600">
                <a:solidFill>
                  <a:srgbClr val="000000"/>
                </a:solidFill>
                <a:latin typeface="Arial"/>
                <a:ea typeface="Arial"/>
                <a:cs typeface="Arial"/>
                <a:sym typeface="Arial"/>
              </a:rPr>
              <a:t> (Mathematics - Toán học): Thuật toán tối ưu hóa (Optimization) cân bằng năng lượng nạp vào/tiêu hao, thống kê dữ liệu lớn, tính toán các chỉ số sức khỏe tự động. </a:t>
            </a:r>
          </a:p>
        </p:txBody>
      </p:sp>
      <p:sp>
        <p:nvSpPr>
          <p:cNvPr id="13" name="AutoShape 13"/>
          <p:cNvSpPr/>
          <p:nvPr/>
        </p:nvSpPr>
        <p:spPr>
          <a:xfrm flipV="1">
            <a:off x="1360260" y="4761411"/>
            <a:ext cx="15567481" cy="0"/>
          </a:xfrm>
          <a:prstGeom prst="line">
            <a:avLst/>
          </a:prstGeom>
          <a:ln w="38100" cap="flat">
            <a:solidFill>
              <a:srgbClr val="000000"/>
            </a:solidFill>
            <a:prstDash val="sysDot"/>
            <a:headEnd type="none" w="sm" len="sm"/>
            <a:tailEnd type="none" w="sm" len="sm"/>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618902"/>
            <a:ext cx="12628826" cy="819596"/>
            <a:chOff x="0" y="0"/>
            <a:chExt cx="16838435" cy="1092795"/>
          </a:xfrm>
        </p:grpSpPr>
        <p:sp>
          <p:nvSpPr>
            <p:cNvPr id="3" name="Freeform 3"/>
            <p:cNvSpPr/>
            <p:nvPr/>
          </p:nvSpPr>
          <p:spPr>
            <a:xfrm>
              <a:off x="0" y="0"/>
              <a:ext cx="16838433" cy="1092793"/>
            </a:xfrm>
            <a:custGeom>
              <a:avLst/>
              <a:gdLst/>
              <a:ahLst/>
              <a:cxnLst/>
              <a:rect l="l" t="t" r="r" b="b"/>
              <a:pathLst>
                <a:path w="16838433" h="1092793">
                  <a:moveTo>
                    <a:pt x="0" y="0"/>
                  </a:moveTo>
                  <a:lnTo>
                    <a:pt x="16838433" y="0"/>
                  </a:lnTo>
                  <a:lnTo>
                    <a:pt x="16838433" y="1092793"/>
                  </a:lnTo>
                  <a:lnTo>
                    <a:pt x="0" y="1092793"/>
                  </a:lnTo>
                  <a:close/>
                </a:path>
              </a:pathLst>
            </a:custGeom>
            <a:blipFill>
              <a:blip r:embed="rId2">
                <a:alphaModFix amt="0"/>
              </a:blip>
              <a:stretch>
                <a:fillRect t="-201662" b="-298812"/>
              </a:stretch>
            </a:blipFill>
          </p:spPr>
          <p:txBody>
            <a:bodyPr/>
            <a:lstStyle/>
            <a:p>
              <a:endParaRPr lang="en-US"/>
            </a:p>
          </p:txBody>
        </p:sp>
        <p:sp>
          <p:nvSpPr>
            <p:cNvPr id="4" name="TextBox 4"/>
            <p:cNvSpPr txBox="1"/>
            <p:nvPr/>
          </p:nvSpPr>
          <p:spPr>
            <a:xfrm>
              <a:off x="0" y="-9525"/>
              <a:ext cx="16838435" cy="1102320"/>
            </a:xfrm>
            <a:prstGeom prst="rect">
              <a:avLst/>
            </a:prstGeom>
          </p:spPr>
          <p:txBody>
            <a:bodyPr lIns="0" tIns="0" rIns="0" bIns="0" rtlCol="0" anchor="ctr"/>
            <a:lstStyle/>
            <a:p>
              <a:pPr algn="l">
                <a:lnSpc>
                  <a:spcPts val="4799"/>
                </a:lnSpc>
              </a:pPr>
              <a:r>
                <a:rPr lang="en-US" sz="3999" b="1">
                  <a:solidFill>
                    <a:srgbClr val="000000"/>
                  </a:solidFill>
                  <a:latin typeface="Arial Bold"/>
                  <a:ea typeface="Arial Bold"/>
                  <a:cs typeface="Arial Bold"/>
                  <a:sym typeface="Arial Bold"/>
                </a:rPr>
                <a:t>4.3. Các phân hệ tính năng đột phá</a:t>
              </a:r>
            </a:p>
          </p:txBody>
        </p:sp>
      </p:grpSp>
      <p:sp>
        <p:nvSpPr>
          <p:cNvPr id="5" name="TextBox 5"/>
          <p:cNvSpPr txBox="1"/>
          <p:nvPr/>
        </p:nvSpPr>
        <p:spPr>
          <a:xfrm>
            <a:off x="705905" y="1655045"/>
            <a:ext cx="16955224" cy="7086600"/>
          </a:xfrm>
          <a:prstGeom prst="rect">
            <a:avLst/>
          </a:prstGeom>
        </p:spPr>
        <p:txBody>
          <a:bodyPr lIns="0" tIns="0" rIns="0" bIns="0" rtlCol="0" anchor="t">
            <a:spAutoFit/>
          </a:bodyPr>
          <a:lstStyle/>
          <a:p>
            <a:pPr algn="l">
              <a:lnSpc>
                <a:spcPts val="4034"/>
              </a:lnSpc>
            </a:pPr>
            <a:r>
              <a:rPr lang="en-US" sz="3361" b="1">
                <a:solidFill>
                  <a:srgbClr val="000000"/>
                </a:solidFill>
                <a:latin typeface="Arial Bold"/>
                <a:ea typeface="Arial Bold"/>
                <a:cs typeface="Arial Bold"/>
                <a:sym typeface="Arial Bold"/>
              </a:rPr>
              <a:t>Cá nhân hóa theo thể trạng: </a:t>
            </a:r>
            <a:r>
              <a:rPr lang="en-US" sz="3361" i="1">
                <a:solidFill>
                  <a:srgbClr val="000000"/>
                </a:solidFill>
                <a:latin typeface="Arial Italics"/>
                <a:ea typeface="Arial Italics"/>
                <a:cs typeface="Arial Italics"/>
                <a:sym typeface="Arial Italics"/>
              </a:rPr>
              <a:t>AI dựa trên tuổi, giới tính, chiều cao, cân nặng và mức độ vận động để gợi ý lượng nước, chế độ vận động và chăm sóc sức khỏe phù hợp.</a:t>
            </a:r>
          </a:p>
          <a:p>
            <a:pPr algn="l">
              <a:lnSpc>
                <a:spcPts val="4034"/>
              </a:lnSpc>
            </a:pPr>
            <a:r>
              <a:rPr lang="en-US" sz="3361" b="1">
                <a:solidFill>
                  <a:srgbClr val="000000"/>
                </a:solidFill>
                <a:latin typeface="Arial Bold"/>
                <a:ea typeface="Arial Bold"/>
                <a:cs typeface="Arial Bold"/>
                <a:sym typeface="Arial Bold"/>
              </a:rPr>
              <a:t>Cá nhân hóa theo thời khóa biểu:</a:t>
            </a:r>
            <a:r>
              <a:rPr lang="en-US" sz="3361">
                <a:solidFill>
                  <a:srgbClr val="000000"/>
                </a:solidFill>
                <a:latin typeface="Arial"/>
                <a:ea typeface="Arial"/>
                <a:cs typeface="Arial"/>
                <a:sym typeface="Arial"/>
              </a:rPr>
              <a:t> </a:t>
            </a:r>
            <a:r>
              <a:rPr lang="en-US" sz="3361" i="1">
                <a:solidFill>
                  <a:srgbClr val="000000"/>
                </a:solidFill>
                <a:latin typeface="Arial Italics"/>
                <a:ea typeface="Arial Italics"/>
                <a:cs typeface="Arial Italics"/>
                <a:sym typeface="Arial Italics"/>
              </a:rPr>
              <a:t>Hệ thống nhắc nhở học sinh uống nước, nghỉ mắt, vận động nhẹ hoặc thư giãn vào thời điểm phù hợp, không làm gián đoạn giờ học.</a:t>
            </a:r>
          </a:p>
          <a:p>
            <a:pPr algn="l">
              <a:lnSpc>
                <a:spcPts val="4034"/>
              </a:lnSpc>
            </a:pPr>
            <a:r>
              <a:rPr lang="en-US" sz="3361" b="1">
                <a:solidFill>
                  <a:srgbClr val="000000"/>
                </a:solidFill>
                <a:latin typeface="Arial Bold"/>
                <a:ea typeface="Arial Bold"/>
                <a:cs typeface="Arial Bold"/>
                <a:sym typeface="Arial Bold"/>
              </a:rPr>
              <a:t>Hỗ trợ tư thế học tập bằng Computer Vision:</a:t>
            </a:r>
            <a:r>
              <a:rPr lang="en-US" sz="3361" i="1">
                <a:solidFill>
                  <a:srgbClr val="000000"/>
                </a:solidFill>
                <a:latin typeface="Arial Italics"/>
                <a:ea typeface="Arial Italics"/>
                <a:cs typeface="Arial Italics"/>
                <a:sym typeface="Arial Italics"/>
              </a:rPr>
              <a:t> Camera nhận diện khoảng cách mắt với màn hình và tư thế ngồi, từ đó nhắc nhở học sinh điều chỉnh để bảo vệ mắt và cột sống.</a:t>
            </a:r>
          </a:p>
          <a:p>
            <a:pPr algn="l">
              <a:lnSpc>
                <a:spcPts val="4034"/>
              </a:lnSpc>
            </a:pPr>
            <a:r>
              <a:rPr lang="en-US" sz="3361" b="1">
                <a:solidFill>
                  <a:srgbClr val="000000"/>
                </a:solidFill>
                <a:latin typeface="Arial Bold"/>
                <a:ea typeface="Arial Bold"/>
                <a:cs typeface="Arial Bold"/>
                <a:sym typeface="Arial Bold"/>
              </a:rPr>
              <a:t>Trợ lý AI dinh dưỡng:</a:t>
            </a:r>
            <a:r>
              <a:rPr lang="en-US" sz="3361">
                <a:solidFill>
                  <a:srgbClr val="000000"/>
                </a:solidFill>
                <a:latin typeface="Arial"/>
                <a:ea typeface="Arial"/>
                <a:cs typeface="Arial"/>
                <a:sym typeface="Arial"/>
              </a:rPr>
              <a:t> </a:t>
            </a:r>
            <a:r>
              <a:rPr lang="en-US" sz="3361" i="1">
                <a:solidFill>
                  <a:srgbClr val="000000"/>
                </a:solidFill>
                <a:latin typeface="Arial Italics"/>
                <a:ea typeface="Arial Italics"/>
                <a:cs typeface="Arial Italics"/>
                <a:sym typeface="Arial Italics"/>
              </a:rPr>
              <a:t>Học sinh nhập hoặc chụp ảnh bữa ăn, AI đưa ra gợi ý tham khảo giúp cân bằng dinh dưỡng và hình thành thói quen ăn uống lành mạnh.</a:t>
            </a:r>
          </a:p>
          <a:p>
            <a:pPr algn="l">
              <a:lnSpc>
                <a:spcPts val="4034"/>
              </a:lnSpc>
            </a:pPr>
            <a:r>
              <a:rPr lang="en-US" sz="3361" b="1">
                <a:solidFill>
                  <a:srgbClr val="000000"/>
                </a:solidFill>
                <a:latin typeface="Arial Bold"/>
                <a:ea typeface="Arial Bold"/>
                <a:cs typeface="Arial Bold"/>
                <a:sym typeface="Arial Bold"/>
              </a:rPr>
              <a:t>Cảnh báo sớm thói quen chưa lành mạnh:</a:t>
            </a:r>
            <a:r>
              <a:rPr lang="en-US" sz="3361">
                <a:solidFill>
                  <a:srgbClr val="000000"/>
                </a:solidFill>
                <a:latin typeface="Arial"/>
                <a:ea typeface="Arial"/>
                <a:cs typeface="Arial"/>
                <a:sym typeface="Arial"/>
              </a:rPr>
              <a:t> </a:t>
            </a:r>
            <a:r>
              <a:rPr lang="en-US" sz="3361" i="1">
                <a:solidFill>
                  <a:srgbClr val="000000"/>
                </a:solidFill>
                <a:latin typeface="Arial Italics"/>
                <a:ea typeface="Arial Italics"/>
                <a:cs typeface="Arial Italics"/>
                <a:sym typeface="Arial Italics"/>
              </a:rPr>
              <a:t>AI theo dõi dữ liệu như giấc ngủ, vận động, uống nước và trạng thái tinh thần để phát hiện dấu hiệu bất thường, từ đó đưa ra khuyến nghị phù hợp.</a:t>
            </a:r>
          </a:p>
          <a:p>
            <a:pPr algn="l">
              <a:lnSpc>
                <a:spcPts val="4034"/>
              </a:lnSpc>
            </a:pPr>
            <a:r>
              <a:rPr lang="en-US" sz="3361" b="1">
                <a:solidFill>
                  <a:srgbClr val="000000"/>
                </a:solidFill>
                <a:latin typeface="Arial Bold"/>
                <a:ea typeface="Arial Bold"/>
                <a:cs typeface="Arial Bold"/>
                <a:sym typeface="Arial Bold"/>
              </a:rPr>
              <a:t>Gamification tạo động lực:</a:t>
            </a:r>
            <a:r>
              <a:rPr lang="en-US" sz="3361">
                <a:solidFill>
                  <a:srgbClr val="000000"/>
                </a:solidFill>
                <a:latin typeface="Arial"/>
                <a:ea typeface="Arial"/>
                <a:cs typeface="Arial"/>
                <a:sym typeface="Arial"/>
              </a:rPr>
              <a:t> </a:t>
            </a:r>
            <a:r>
              <a:rPr lang="en-US" sz="3361" i="1">
                <a:solidFill>
                  <a:srgbClr val="000000"/>
                </a:solidFill>
                <a:latin typeface="Arial Italics"/>
                <a:ea typeface="Arial Italics"/>
                <a:cs typeface="Arial Italics"/>
                <a:sym typeface="Arial Italics"/>
              </a:rPr>
              <a:t>Học sinh nhận điểm thưởng, huy hiệu hoặc thử thách khi hoàn thành mục tiêu sức khỏe hằng ngày, giúp duy trì thói quen tích cực.</a:t>
            </a:r>
          </a:p>
          <a:p>
            <a:pPr algn="l">
              <a:lnSpc>
                <a:spcPts val="4034"/>
              </a:lnSpc>
              <a:spcBef>
                <a:spcPct val="0"/>
              </a:spcBef>
            </a:pPr>
            <a:endParaRPr lang="en-US" sz="3361" i="1">
              <a:solidFill>
                <a:srgbClr val="000000"/>
              </a:solidFill>
              <a:latin typeface="Arial Italics"/>
              <a:ea typeface="Arial Italics"/>
              <a:cs typeface="Arial Italics"/>
              <a:sym typeface="Arial Itali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15880" y="1263167"/>
            <a:ext cx="16098043" cy="1615827"/>
            <a:chOff x="0" y="0"/>
            <a:chExt cx="21464057" cy="2154436"/>
          </a:xfrm>
        </p:grpSpPr>
        <p:sp>
          <p:nvSpPr>
            <p:cNvPr id="3" name="Freeform 3"/>
            <p:cNvSpPr/>
            <p:nvPr/>
          </p:nvSpPr>
          <p:spPr>
            <a:xfrm>
              <a:off x="0" y="0"/>
              <a:ext cx="21464060" cy="2154431"/>
            </a:xfrm>
            <a:custGeom>
              <a:avLst/>
              <a:gdLst/>
              <a:ahLst/>
              <a:cxnLst/>
              <a:rect l="l" t="t" r="r" b="b"/>
              <a:pathLst>
                <a:path w="21464060" h="2154431">
                  <a:moveTo>
                    <a:pt x="0" y="0"/>
                  </a:moveTo>
                  <a:lnTo>
                    <a:pt x="21464060" y="0"/>
                  </a:lnTo>
                  <a:lnTo>
                    <a:pt x="21464060" y="2154431"/>
                  </a:lnTo>
                  <a:lnTo>
                    <a:pt x="0" y="2154431"/>
                  </a:lnTo>
                  <a:close/>
                </a:path>
              </a:pathLst>
            </a:custGeom>
            <a:blipFill>
              <a:blip r:embed="rId2">
                <a:alphaModFix amt="0"/>
              </a:blip>
              <a:stretch>
                <a:fillRect t="-114428" r="15297" b="-114429"/>
              </a:stretch>
            </a:blipFill>
          </p:spPr>
          <p:txBody>
            <a:bodyPr/>
            <a:lstStyle/>
            <a:p>
              <a:endParaRPr lang="en-US"/>
            </a:p>
          </p:txBody>
        </p:sp>
        <p:sp>
          <p:nvSpPr>
            <p:cNvPr id="4" name="TextBox 4"/>
            <p:cNvSpPr txBox="1"/>
            <p:nvPr/>
          </p:nvSpPr>
          <p:spPr>
            <a:xfrm>
              <a:off x="0" y="-9525"/>
              <a:ext cx="21464057" cy="2163961"/>
            </a:xfrm>
            <a:prstGeom prst="rect">
              <a:avLst/>
            </a:prstGeom>
          </p:spPr>
          <p:txBody>
            <a:bodyPr lIns="0" tIns="0" rIns="0" bIns="0" rtlCol="0" anchor="ctr"/>
            <a:lstStyle/>
            <a:p>
              <a:pPr algn="l">
                <a:lnSpc>
                  <a:spcPts val="4799"/>
                </a:lnSpc>
              </a:pPr>
              <a:r>
                <a:rPr lang="en-US" sz="3999" b="1">
                  <a:solidFill>
                    <a:srgbClr val="000000"/>
                  </a:solidFill>
                  <a:latin typeface="Arial Bold"/>
                  <a:ea typeface="Arial Bold"/>
                  <a:cs typeface="Arial Bold"/>
                  <a:sym typeface="Arial Bold"/>
                </a:rPr>
                <a:t>5. QUY TRÌNH THỰC HIỆN VÀ TÍNH KHẢ THI CỦA GIẢI PHÁP TRONG THỰC TIỄN</a:t>
              </a:r>
            </a:p>
          </p:txBody>
        </p:sp>
      </p:grpSp>
      <p:sp>
        <p:nvSpPr>
          <p:cNvPr id="5" name="TextBox 5"/>
          <p:cNvSpPr txBox="1"/>
          <p:nvPr/>
        </p:nvSpPr>
        <p:spPr>
          <a:xfrm>
            <a:off x="746483" y="3101700"/>
            <a:ext cx="5933777" cy="628650"/>
          </a:xfrm>
          <a:prstGeom prst="rect">
            <a:avLst/>
          </a:prstGeom>
        </p:spPr>
        <p:txBody>
          <a:bodyPr lIns="0" tIns="0" rIns="0" bIns="0" rtlCol="0" anchor="t">
            <a:spAutoFit/>
          </a:bodyPr>
          <a:lstStyle/>
          <a:p>
            <a:pPr algn="ctr">
              <a:lnSpc>
                <a:spcPts val="4874"/>
              </a:lnSpc>
              <a:spcBef>
                <a:spcPct val="0"/>
              </a:spcBef>
            </a:pPr>
            <a:r>
              <a:rPr lang="en-US" sz="4061" b="1">
                <a:solidFill>
                  <a:srgbClr val="000000"/>
                </a:solidFill>
                <a:latin typeface="Arial Bold"/>
                <a:ea typeface="Arial Bold"/>
                <a:cs typeface="Arial Bold"/>
                <a:sym typeface="Arial Bold"/>
              </a:rPr>
              <a:t>5.1. Quy trình thực hiện </a:t>
            </a:r>
          </a:p>
        </p:txBody>
      </p:sp>
      <p:sp>
        <p:nvSpPr>
          <p:cNvPr id="6" name="TextBox 6"/>
          <p:cNvSpPr txBox="1"/>
          <p:nvPr/>
        </p:nvSpPr>
        <p:spPr>
          <a:xfrm>
            <a:off x="746483" y="3949425"/>
            <a:ext cx="17125642" cy="3552356"/>
          </a:xfrm>
          <a:prstGeom prst="rect">
            <a:avLst/>
          </a:prstGeom>
        </p:spPr>
        <p:txBody>
          <a:bodyPr lIns="0" tIns="0" rIns="0" bIns="0" rtlCol="0" anchor="t">
            <a:spAutoFit/>
          </a:bodyPr>
          <a:lstStyle/>
          <a:p>
            <a:pPr algn="l">
              <a:lnSpc>
                <a:spcPts val="3520"/>
              </a:lnSpc>
              <a:spcBef>
                <a:spcPct val="0"/>
              </a:spcBef>
            </a:pPr>
            <a:r>
              <a:rPr lang="en-US" sz="2933">
                <a:solidFill>
                  <a:srgbClr val="000000"/>
                </a:solidFill>
                <a:latin typeface="Arial"/>
                <a:ea typeface="Arial"/>
                <a:cs typeface="Arial"/>
                <a:sym typeface="Arial"/>
              </a:rPr>
              <a:t>Giai đoạn 1: Khảo sát thực trạng và xác định vấn đề.</a:t>
            </a:r>
          </a:p>
          <a:p>
            <a:pPr algn="l">
              <a:lnSpc>
                <a:spcPts val="3520"/>
              </a:lnSpc>
              <a:spcBef>
                <a:spcPct val="0"/>
              </a:spcBef>
            </a:pPr>
            <a:r>
              <a:rPr lang="en-US" sz="2933">
                <a:solidFill>
                  <a:srgbClr val="000000"/>
                </a:solidFill>
                <a:latin typeface="Arial"/>
                <a:ea typeface="Arial"/>
                <a:cs typeface="Arial"/>
                <a:sym typeface="Arial"/>
              </a:rPr>
              <a:t>Giai đoạn 2: Nghiên cứu tài liệu và xây dựng cơ sở dữ liệu sức khỏe học đường.</a:t>
            </a:r>
          </a:p>
          <a:p>
            <a:pPr algn="l">
              <a:lnSpc>
                <a:spcPts val="3520"/>
              </a:lnSpc>
              <a:spcBef>
                <a:spcPct val="0"/>
              </a:spcBef>
            </a:pPr>
            <a:r>
              <a:rPr lang="en-US" sz="2933">
                <a:solidFill>
                  <a:srgbClr val="000000"/>
                </a:solidFill>
                <a:latin typeface="Arial"/>
                <a:ea typeface="Arial"/>
                <a:cs typeface="Arial"/>
                <a:sym typeface="Arial"/>
              </a:rPr>
              <a:t>Giai đoạn 3: Thiết kế giải pháp và xây dựng Prototype.</a:t>
            </a:r>
          </a:p>
          <a:p>
            <a:pPr algn="l">
              <a:lnSpc>
                <a:spcPts val="3520"/>
              </a:lnSpc>
              <a:spcBef>
                <a:spcPct val="0"/>
              </a:spcBef>
            </a:pPr>
            <a:r>
              <a:rPr lang="en-US" sz="2933">
                <a:solidFill>
                  <a:srgbClr val="000000"/>
                </a:solidFill>
                <a:latin typeface="Arial"/>
                <a:ea typeface="Arial"/>
                <a:cs typeface="Arial"/>
                <a:sym typeface="Arial"/>
              </a:rPr>
              <a:t>Giai đoạn 4: Phát triển ứng dụng AI School Health Coach.</a:t>
            </a:r>
          </a:p>
          <a:p>
            <a:pPr algn="l">
              <a:lnSpc>
                <a:spcPts val="3520"/>
              </a:lnSpc>
              <a:spcBef>
                <a:spcPct val="0"/>
              </a:spcBef>
            </a:pPr>
            <a:r>
              <a:rPr lang="en-US" sz="2933">
                <a:solidFill>
                  <a:srgbClr val="000000"/>
                </a:solidFill>
                <a:latin typeface="Arial"/>
                <a:ea typeface="Arial"/>
                <a:cs typeface="Arial"/>
                <a:sym typeface="Arial"/>
              </a:rPr>
              <a:t>Giai đoạn 5: Huấn luyện và tối ưu mô hình AI.</a:t>
            </a:r>
          </a:p>
          <a:p>
            <a:pPr algn="l">
              <a:lnSpc>
                <a:spcPts val="3520"/>
              </a:lnSpc>
              <a:spcBef>
                <a:spcPct val="0"/>
              </a:spcBef>
            </a:pPr>
            <a:r>
              <a:rPr lang="en-US" sz="2933">
                <a:solidFill>
                  <a:srgbClr val="000000"/>
                </a:solidFill>
                <a:latin typeface="Arial"/>
                <a:ea typeface="Arial"/>
                <a:cs typeface="Arial"/>
                <a:sym typeface="Arial"/>
              </a:rPr>
              <a:t>Giai đoạn 6: Thử nghiệm thực tế trên học sinh (Alpha Test).</a:t>
            </a:r>
          </a:p>
          <a:p>
            <a:pPr algn="l">
              <a:lnSpc>
                <a:spcPts val="3520"/>
              </a:lnSpc>
              <a:spcBef>
                <a:spcPct val="0"/>
              </a:spcBef>
            </a:pPr>
            <a:r>
              <a:rPr lang="en-US" sz="2933">
                <a:solidFill>
                  <a:srgbClr val="000000"/>
                </a:solidFill>
                <a:latin typeface="Arial"/>
                <a:ea typeface="Arial"/>
                <a:cs typeface="Arial"/>
                <a:sym typeface="Arial"/>
              </a:rPr>
              <a:t>Giai đoạn 7: Đánh giá hiệu quả, hoàn thiện sản phẩm và chuẩn bị nhân rộng (Beta Test).</a:t>
            </a:r>
          </a:p>
          <a:p>
            <a:pPr algn="l">
              <a:lnSpc>
                <a:spcPts val="3520"/>
              </a:lnSpc>
              <a:spcBef>
                <a:spcPct val="0"/>
              </a:spcBef>
            </a:pPr>
            <a:endParaRPr lang="en-US" sz="2933">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55897" y="1009650"/>
            <a:ext cx="8780034" cy="628650"/>
          </a:xfrm>
          <a:prstGeom prst="rect">
            <a:avLst/>
          </a:prstGeom>
        </p:spPr>
        <p:txBody>
          <a:bodyPr lIns="0" tIns="0" rIns="0" bIns="0" rtlCol="0" anchor="t">
            <a:spAutoFit/>
          </a:bodyPr>
          <a:lstStyle/>
          <a:p>
            <a:pPr algn="ctr">
              <a:lnSpc>
                <a:spcPts val="4874"/>
              </a:lnSpc>
              <a:spcBef>
                <a:spcPct val="0"/>
              </a:spcBef>
            </a:pPr>
            <a:r>
              <a:rPr lang="en-US" sz="4061" b="1">
                <a:solidFill>
                  <a:srgbClr val="000000"/>
                </a:solidFill>
                <a:latin typeface="Arial Bold"/>
                <a:ea typeface="Arial Bold"/>
                <a:cs typeface="Arial Bold"/>
                <a:sym typeface="Arial Bold"/>
              </a:rPr>
              <a:t>5.2. Tính khả thi của giải pháp </a:t>
            </a:r>
          </a:p>
        </p:txBody>
      </p:sp>
      <p:sp>
        <p:nvSpPr>
          <p:cNvPr id="3" name="TextBox 3"/>
          <p:cNvSpPr txBox="1"/>
          <p:nvPr/>
        </p:nvSpPr>
        <p:spPr>
          <a:xfrm>
            <a:off x="1316890" y="1903933"/>
            <a:ext cx="15942410" cy="6962775"/>
          </a:xfrm>
          <a:prstGeom prst="rect">
            <a:avLst/>
          </a:prstGeom>
        </p:spPr>
        <p:txBody>
          <a:bodyPr lIns="0" tIns="0" rIns="0" bIns="0" rtlCol="0" anchor="t">
            <a:spAutoFit/>
          </a:bodyPr>
          <a:lstStyle/>
          <a:p>
            <a:pPr algn="l">
              <a:lnSpc>
                <a:spcPts val="3914"/>
              </a:lnSpc>
            </a:pPr>
            <a:r>
              <a:rPr lang="en-US" sz="3261" b="1">
                <a:solidFill>
                  <a:srgbClr val="000000"/>
                </a:solidFill>
                <a:latin typeface="Arial Bold"/>
                <a:ea typeface="Arial Bold"/>
                <a:cs typeface="Arial Bold"/>
                <a:sym typeface="Arial Bold"/>
              </a:rPr>
              <a:t>Tính khả thi công nghệ:</a:t>
            </a:r>
            <a:r>
              <a:rPr lang="en-US" sz="3261">
                <a:solidFill>
                  <a:srgbClr val="000000"/>
                </a:solidFill>
                <a:latin typeface="Arial"/>
                <a:ea typeface="Arial"/>
                <a:cs typeface="Arial"/>
                <a:sym typeface="Arial"/>
              </a:rPr>
              <a:t> </a:t>
            </a:r>
            <a:r>
              <a:rPr lang="en-US" sz="3261" i="1">
                <a:solidFill>
                  <a:srgbClr val="000000"/>
                </a:solidFill>
                <a:latin typeface="Arial Italics"/>
                <a:ea typeface="Arial Italics"/>
                <a:cs typeface="Arial Italics"/>
                <a:sym typeface="Arial Italics"/>
              </a:rPr>
              <a:t>Sử dụng các nền tảng phổ biến như Flutter, Python, Firebase và Gemini API, dễ phát triển và chi phí thấp.</a:t>
            </a:r>
          </a:p>
          <a:p>
            <a:pPr algn="l">
              <a:lnSpc>
                <a:spcPts val="3914"/>
              </a:lnSpc>
            </a:pPr>
            <a:endParaRPr lang="en-US" sz="3261" i="1">
              <a:solidFill>
                <a:srgbClr val="000000"/>
              </a:solidFill>
              <a:latin typeface="Arial Italics"/>
              <a:ea typeface="Arial Italics"/>
              <a:cs typeface="Arial Italics"/>
              <a:sym typeface="Arial Italics"/>
            </a:endParaRPr>
          </a:p>
          <a:p>
            <a:pPr algn="l">
              <a:lnSpc>
                <a:spcPts val="3914"/>
              </a:lnSpc>
            </a:pPr>
            <a:r>
              <a:rPr lang="en-US" sz="3261" b="1">
                <a:solidFill>
                  <a:srgbClr val="000000"/>
                </a:solidFill>
                <a:latin typeface="Arial Bold"/>
                <a:ea typeface="Arial Bold"/>
                <a:cs typeface="Arial Bold"/>
                <a:sym typeface="Arial Bold"/>
              </a:rPr>
              <a:t>Tính khả thi triển khai:</a:t>
            </a:r>
            <a:r>
              <a:rPr lang="en-US" sz="3261">
                <a:solidFill>
                  <a:srgbClr val="000000"/>
                </a:solidFill>
                <a:latin typeface="Arial"/>
                <a:ea typeface="Arial"/>
                <a:cs typeface="Arial"/>
                <a:sym typeface="Arial"/>
              </a:rPr>
              <a:t> </a:t>
            </a:r>
            <a:r>
              <a:rPr lang="en-US" sz="3261" i="1">
                <a:solidFill>
                  <a:srgbClr val="000000"/>
                </a:solidFill>
                <a:latin typeface="Arial Italics"/>
                <a:ea typeface="Arial Italics"/>
                <a:cs typeface="Arial Italics"/>
                <a:sym typeface="Arial Italics"/>
              </a:rPr>
              <a:t>Ứng dụng hoạt động trên điện thoại, máy tính bảng và máy tính, không yêu cầu phần cứng chuyên dụng, phù hợp với học sinh và nhà trường.</a:t>
            </a:r>
          </a:p>
          <a:p>
            <a:pPr algn="l">
              <a:lnSpc>
                <a:spcPts val="3914"/>
              </a:lnSpc>
            </a:pPr>
            <a:endParaRPr lang="en-US" sz="3261" i="1">
              <a:solidFill>
                <a:srgbClr val="000000"/>
              </a:solidFill>
              <a:latin typeface="Arial Italics"/>
              <a:ea typeface="Arial Italics"/>
              <a:cs typeface="Arial Italics"/>
              <a:sym typeface="Arial Italics"/>
            </a:endParaRPr>
          </a:p>
          <a:p>
            <a:pPr algn="l">
              <a:lnSpc>
                <a:spcPts val="3914"/>
              </a:lnSpc>
            </a:pPr>
            <a:r>
              <a:rPr lang="en-US" sz="3261" b="1">
                <a:solidFill>
                  <a:srgbClr val="000000"/>
                </a:solidFill>
                <a:latin typeface="Arial Bold"/>
                <a:ea typeface="Arial Bold"/>
                <a:cs typeface="Arial Bold"/>
                <a:sym typeface="Arial Bold"/>
              </a:rPr>
              <a:t>Tính khả thi dữ liệu:</a:t>
            </a:r>
            <a:r>
              <a:rPr lang="en-US" sz="3261">
                <a:solidFill>
                  <a:srgbClr val="000000"/>
                </a:solidFill>
                <a:latin typeface="Arial"/>
                <a:ea typeface="Arial"/>
                <a:cs typeface="Arial"/>
                <a:sym typeface="Arial"/>
              </a:rPr>
              <a:t> </a:t>
            </a:r>
            <a:r>
              <a:rPr lang="en-US" sz="3261" i="1">
                <a:solidFill>
                  <a:srgbClr val="000000"/>
                </a:solidFill>
                <a:latin typeface="Arial Italics"/>
                <a:ea typeface="Arial Italics"/>
                <a:cs typeface="Arial Italics"/>
                <a:sym typeface="Arial Italics"/>
              </a:rPr>
              <a:t>Dữ liệu sức khỏe (giấc ngủ, vận động, dinh dưỡng, cảm xúc...) dễ thu thập và được xây dựng dựa trên các chỉ số khoa học.</a:t>
            </a:r>
          </a:p>
          <a:p>
            <a:pPr algn="l">
              <a:lnSpc>
                <a:spcPts val="3914"/>
              </a:lnSpc>
            </a:pPr>
            <a:endParaRPr lang="en-US" sz="3261" i="1">
              <a:solidFill>
                <a:srgbClr val="000000"/>
              </a:solidFill>
              <a:latin typeface="Arial Italics"/>
              <a:ea typeface="Arial Italics"/>
              <a:cs typeface="Arial Italics"/>
              <a:sym typeface="Arial Italics"/>
            </a:endParaRPr>
          </a:p>
          <a:p>
            <a:pPr algn="l">
              <a:lnSpc>
                <a:spcPts val="3914"/>
              </a:lnSpc>
            </a:pPr>
            <a:r>
              <a:rPr lang="en-US" sz="3261" b="1">
                <a:solidFill>
                  <a:srgbClr val="000000"/>
                </a:solidFill>
                <a:latin typeface="Arial Bold"/>
                <a:ea typeface="Arial Bold"/>
                <a:cs typeface="Arial Bold"/>
                <a:sym typeface="Arial Bold"/>
              </a:rPr>
              <a:t>Tính bảo mật:</a:t>
            </a:r>
            <a:r>
              <a:rPr lang="en-US" sz="3261">
                <a:solidFill>
                  <a:srgbClr val="000000"/>
                </a:solidFill>
                <a:latin typeface="Arial"/>
                <a:ea typeface="Arial"/>
                <a:cs typeface="Arial"/>
                <a:sym typeface="Arial"/>
              </a:rPr>
              <a:t> </a:t>
            </a:r>
            <a:r>
              <a:rPr lang="en-US" sz="3261" i="1">
                <a:solidFill>
                  <a:srgbClr val="000000"/>
                </a:solidFill>
                <a:latin typeface="Arial Italics"/>
                <a:ea typeface="Arial Italics"/>
                <a:cs typeface="Arial Italics"/>
                <a:sym typeface="Arial Italics"/>
              </a:rPr>
              <a:t>Dữ liệu cá nhân được mã hóa và ẩn danh; nhà trường chỉ tiếp cận các báo cáo tổng hợp qua Dashboard.</a:t>
            </a:r>
          </a:p>
          <a:p>
            <a:pPr algn="l">
              <a:lnSpc>
                <a:spcPts val="3914"/>
              </a:lnSpc>
            </a:pPr>
            <a:endParaRPr lang="en-US" sz="3261" i="1">
              <a:solidFill>
                <a:srgbClr val="000000"/>
              </a:solidFill>
              <a:latin typeface="Arial Italics"/>
              <a:ea typeface="Arial Italics"/>
              <a:cs typeface="Arial Italics"/>
              <a:sym typeface="Arial Italics"/>
            </a:endParaRPr>
          </a:p>
          <a:p>
            <a:pPr algn="l">
              <a:lnSpc>
                <a:spcPts val="3914"/>
              </a:lnSpc>
              <a:spcBef>
                <a:spcPct val="0"/>
              </a:spcBef>
            </a:pPr>
            <a:r>
              <a:rPr lang="en-US" sz="3261" b="1">
                <a:solidFill>
                  <a:srgbClr val="000000"/>
                </a:solidFill>
                <a:latin typeface="Arial Bold"/>
                <a:ea typeface="Arial Bold"/>
                <a:cs typeface="Arial Bold"/>
                <a:sym typeface="Arial Bold"/>
              </a:rPr>
              <a:t>Khả năng mở rộng: </a:t>
            </a:r>
            <a:r>
              <a:rPr lang="en-US" sz="3261" i="1">
                <a:solidFill>
                  <a:srgbClr val="000000"/>
                </a:solidFill>
                <a:latin typeface="Arial Italics"/>
                <a:ea typeface="Arial Italics"/>
                <a:cs typeface="Arial Italics"/>
                <a:sym typeface="Arial Italics"/>
              </a:rPr>
              <a:t>Có thể triển khai cho nhiều cấp học và tích hợp thêm các tính năng chăm sóc sức khỏe trong tương lai.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13602862" cy="1615831"/>
            <a:chOff x="0" y="0"/>
            <a:chExt cx="18137149" cy="2154441"/>
          </a:xfrm>
        </p:grpSpPr>
        <p:sp>
          <p:nvSpPr>
            <p:cNvPr id="3" name="Freeform 3"/>
            <p:cNvSpPr/>
            <p:nvPr/>
          </p:nvSpPr>
          <p:spPr>
            <a:xfrm>
              <a:off x="0" y="0"/>
              <a:ext cx="18137146" cy="2154436"/>
            </a:xfrm>
            <a:custGeom>
              <a:avLst/>
              <a:gdLst/>
              <a:ahLst/>
              <a:cxnLst/>
              <a:rect l="l" t="t" r="r" b="b"/>
              <a:pathLst>
                <a:path w="18137146" h="2154436">
                  <a:moveTo>
                    <a:pt x="0" y="0"/>
                  </a:moveTo>
                  <a:lnTo>
                    <a:pt x="18137146" y="0"/>
                  </a:lnTo>
                  <a:lnTo>
                    <a:pt x="18137146" y="2154436"/>
                  </a:lnTo>
                  <a:lnTo>
                    <a:pt x="0" y="2154436"/>
                  </a:lnTo>
                  <a:close/>
                </a:path>
              </a:pathLst>
            </a:custGeom>
            <a:blipFill>
              <a:blip r:embed="rId2">
                <a:alphaModFix amt="0"/>
              </a:blip>
              <a:stretch>
                <a:fillRect t="-114034" b="-114035"/>
              </a:stretch>
            </a:blipFill>
          </p:spPr>
          <p:txBody>
            <a:bodyPr/>
            <a:lstStyle/>
            <a:p>
              <a:endParaRPr lang="en-US"/>
            </a:p>
          </p:txBody>
        </p:sp>
        <p:sp>
          <p:nvSpPr>
            <p:cNvPr id="4" name="TextBox 4"/>
            <p:cNvSpPr txBox="1"/>
            <p:nvPr/>
          </p:nvSpPr>
          <p:spPr>
            <a:xfrm>
              <a:off x="0" y="-19050"/>
              <a:ext cx="18137149" cy="2173491"/>
            </a:xfrm>
            <a:prstGeom prst="rect">
              <a:avLst/>
            </a:prstGeom>
          </p:spPr>
          <p:txBody>
            <a:bodyPr lIns="0" tIns="0" rIns="0" bIns="0" rtlCol="0" anchor="ctr"/>
            <a:lstStyle/>
            <a:p>
              <a:pPr algn="l">
                <a:lnSpc>
                  <a:spcPts val="5759"/>
                </a:lnSpc>
              </a:pPr>
              <a:r>
                <a:rPr lang="en-US" sz="4800" b="1" dirty="0">
                  <a:solidFill>
                    <a:srgbClr val="000000"/>
                  </a:solidFill>
                  <a:latin typeface="Arial Bold"/>
                  <a:ea typeface="Arial Bold"/>
                  <a:cs typeface="Arial Bold"/>
                  <a:sym typeface="Arial Bold"/>
                </a:rPr>
                <a:t>6. KẾ HOẠCH TÀI CHÍNH VÀ TRIỂN KHAI THỰC HIỆN DỰ ÁN</a:t>
              </a:r>
            </a:p>
          </p:txBody>
        </p:sp>
      </p:grpSp>
      <p:sp>
        <p:nvSpPr>
          <p:cNvPr id="5" name="TextBox 5"/>
          <p:cNvSpPr txBox="1"/>
          <p:nvPr/>
        </p:nvSpPr>
        <p:spPr>
          <a:xfrm>
            <a:off x="1610625" y="2799490"/>
            <a:ext cx="14752219" cy="561975"/>
          </a:xfrm>
          <a:prstGeom prst="rect">
            <a:avLst/>
          </a:prstGeom>
        </p:spPr>
        <p:txBody>
          <a:bodyPr lIns="0" tIns="0" rIns="0" bIns="0" rtlCol="0" anchor="t">
            <a:spAutoFit/>
          </a:bodyPr>
          <a:lstStyle/>
          <a:p>
            <a:pPr algn="l">
              <a:lnSpc>
                <a:spcPts val="4200"/>
              </a:lnSpc>
              <a:spcBef>
                <a:spcPct val="0"/>
              </a:spcBef>
            </a:pPr>
            <a:r>
              <a:rPr lang="en-US" sz="3500" b="1">
                <a:solidFill>
                  <a:srgbClr val="000000"/>
                </a:solidFill>
                <a:latin typeface="Arial Bold"/>
                <a:ea typeface="Arial Bold"/>
                <a:cs typeface="Arial Bold"/>
                <a:sym typeface="Arial Bold"/>
              </a:rPr>
              <a:t>6.1.  Kinh phí dự kiến (Giai đoạn xây dựng sản phẩm mẫu - MVP)</a:t>
            </a:r>
          </a:p>
        </p:txBody>
      </p:sp>
      <p:graphicFrame>
        <p:nvGraphicFramePr>
          <p:cNvPr id="6" name="Table 6"/>
          <p:cNvGraphicFramePr>
            <a:graphicFrameLocks noGrp="1"/>
          </p:cNvGraphicFramePr>
          <p:nvPr>
            <p:extLst>
              <p:ext uri="{D42A27DB-BD31-4B8C-83A1-F6EECF244321}">
                <p14:modId xmlns:p14="http://schemas.microsoft.com/office/powerpoint/2010/main" val="2841286834"/>
              </p:ext>
            </p:extLst>
          </p:nvPr>
        </p:nvGraphicFramePr>
        <p:xfrm>
          <a:off x="1240539" y="3727490"/>
          <a:ext cx="16244888" cy="6128160"/>
        </p:xfrm>
        <a:graphic>
          <a:graphicData uri="http://schemas.openxmlformats.org/drawingml/2006/table">
            <a:tbl>
              <a:tblPr/>
              <a:tblGrid>
                <a:gridCol w="1364082">
                  <a:extLst>
                    <a:ext uri="{9D8B030D-6E8A-4147-A177-3AD203B41FA5}">
                      <a16:colId xmlns:a16="http://schemas.microsoft.com/office/drawing/2014/main" val="20000"/>
                    </a:ext>
                  </a:extLst>
                </a:gridCol>
                <a:gridCol w="4350776">
                  <a:extLst>
                    <a:ext uri="{9D8B030D-6E8A-4147-A177-3AD203B41FA5}">
                      <a16:colId xmlns:a16="http://schemas.microsoft.com/office/drawing/2014/main" val="20001"/>
                    </a:ext>
                  </a:extLst>
                </a:gridCol>
                <a:gridCol w="7542133">
                  <a:extLst>
                    <a:ext uri="{9D8B030D-6E8A-4147-A177-3AD203B41FA5}">
                      <a16:colId xmlns:a16="http://schemas.microsoft.com/office/drawing/2014/main" val="20002"/>
                    </a:ext>
                  </a:extLst>
                </a:gridCol>
                <a:gridCol w="2987897">
                  <a:extLst>
                    <a:ext uri="{9D8B030D-6E8A-4147-A177-3AD203B41FA5}">
                      <a16:colId xmlns:a16="http://schemas.microsoft.com/office/drawing/2014/main" val="20003"/>
                    </a:ext>
                  </a:extLst>
                </a:gridCol>
              </a:tblGrid>
              <a:tr h="610074">
                <a:tc>
                  <a:txBody>
                    <a:bodyPr/>
                    <a:lstStyle/>
                    <a:p>
                      <a:pPr algn="ctr">
                        <a:lnSpc>
                          <a:spcPts val="2400"/>
                        </a:lnSpc>
                        <a:defRPr/>
                      </a:pPr>
                      <a:r>
                        <a:rPr lang="en-US" sz="2000" dirty="0">
                          <a:solidFill>
                            <a:srgbClr val="000000"/>
                          </a:solidFill>
                          <a:latin typeface="Arial"/>
                          <a:ea typeface="Arial"/>
                          <a:cs typeface="Arial"/>
                          <a:sym typeface="Arial"/>
                        </a:rPr>
                        <a:t>STT</a:t>
                      </a:r>
                      <a:endParaRPr lang="en-US" sz="1100" dirty="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400"/>
                        </a:lnSpc>
                        <a:defRPr/>
                      </a:pPr>
                      <a:r>
                        <a:rPr lang="en-US" sz="2000">
                          <a:solidFill>
                            <a:srgbClr val="000000"/>
                          </a:solidFill>
                          <a:latin typeface="Arial"/>
                          <a:ea typeface="Arial"/>
                          <a:cs typeface="Arial"/>
                          <a:sym typeface="Arial"/>
                        </a:rPr>
                        <a:t>Hạng mục công việc</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400"/>
                        </a:lnSpc>
                        <a:defRPr/>
                      </a:pPr>
                      <a:r>
                        <a:rPr lang="en-US" sz="2000">
                          <a:solidFill>
                            <a:srgbClr val="000000"/>
                          </a:solidFill>
                          <a:latin typeface="Arial"/>
                          <a:ea typeface="Arial"/>
                          <a:cs typeface="Arial"/>
                          <a:sym typeface="Arial"/>
                        </a:rPr>
                        <a:t>Công cụ / Chi tiết kỹ thuật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400"/>
                        </a:lnSpc>
                        <a:defRPr/>
                      </a:pPr>
                      <a:r>
                        <a:rPr lang="en-US" sz="2000">
                          <a:solidFill>
                            <a:srgbClr val="000000"/>
                          </a:solidFill>
                          <a:latin typeface="Arial"/>
                          <a:ea typeface="Arial"/>
                          <a:cs typeface="Arial"/>
                          <a:sym typeface="Arial"/>
                        </a:rPr>
                        <a:t>Chi phí (VNĐ)</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24784">
                <a:tc>
                  <a:txBody>
                    <a:bodyPr/>
                    <a:lstStyle/>
                    <a:p>
                      <a:pPr algn="ctr">
                        <a:lnSpc>
                          <a:spcPts val="2400"/>
                        </a:lnSpc>
                        <a:defRPr/>
                      </a:pPr>
                      <a:r>
                        <a:rPr lang="en-US" sz="2000">
                          <a:solidFill>
                            <a:srgbClr val="000000"/>
                          </a:solidFill>
                          <a:latin typeface="Arial"/>
                          <a:ea typeface="Arial"/>
                          <a:cs typeface="Arial"/>
                          <a:sym typeface="Arial"/>
                        </a:rPr>
                        <a:t>1</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400"/>
                        </a:lnSpc>
                        <a:defRPr/>
                      </a:pPr>
                      <a:r>
                        <a:rPr lang="en-US" sz="2000">
                          <a:solidFill>
                            <a:srgbClr val="000000"/>
                          </a:solidFill>
                          <a:latin typeface="Arial"/>
                          <a:ea typeface="Arial"/>
                          <a:cs typeface="Arial"/>
                          <a:sym typeface="Arial"/>
                        </a:rPr>
                        <a:t>Thiết kế giao diện (UI/UX)</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Figma (Gói tài khoản Giáo dục)</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2784">
                <a:tc>
                  <a:txBody>
                    <a:bodyPr/>
                    <a:lstStyle/>
                    <a:p>
                      <a:pPr algn="ctr">
                        <a:lnSpc>
                          <a:spcPts val="2400"/>
                        </a:lnSpc>
                        <a:defRPr/>
                      </a:pPr>
                      <a:r>
                        <a:rPr lang="en-US" sz="2000">
                          <a:solidFill>
                            <a:srgbClr val="000000"/>
                          </a:solidFill>
                          <a:latin typeface="Arial"/>
                          <a:ea typeface="Arial"/>
                          <a:cs typeface="Arial"/>
                          <a:sym typeface="Arial"/>
                        </a:rPr>
                        <a:t>2</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Cơ sở dữ liệu &amp; Lưu trữ</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dirty="0">
                          <a:solidFill>
                            <a:srgbClr val="000000"/>
                          </a:solidFill>
                          <a:latin typeface="Arial"/>
                          <a:ea typeface="Arial"/>
                          <a:cs typeface="Arial"/>
                          <a:sym typeface="Arial"/>
                        </a:rPr>
                        <a:t>Firebase (</a:t>
                      </a:r>
                      <a:r>
                        <a:rPr lang="en-US" sz="2000" dirty="0" err="1">
                          <a:solidFill>
                            <a:srgbClr val="000000"/>
                          </a:solidFill>
                          <a:latin typeface="Arial"/>
                          <a:ea typeface="Arial"/>
                          <a:cs typeface="Arial"/>
                          <a:sym typeface="Arial"/>
                        </a:rPr>
                        <a:t>Gói</a:t>
                      </a:r>
                      <a:r>
                        <a:rPr lang="en-US" sz="2000" dirty="0">
                          <a:solidFill>
                            <a:srgbClr val="000000"/>
                          </a:solidFill>
                          <a:latin typeface="Arial"/>
                          <a:ea typeface="Arial"/>
                          <a:cs typeface="Arial"/>
                          <a:sym typeface="Arial"/>
                        </a:rPr>
                        <a:t> Spark </a:t>
                      </a:r>
                      <a:r>
                        <a:rPr lang="en-US" sz="2000" dirty="0" err="1">
                          <a:solidFill>
                            <a:srgbClr val="000000"/>
                          </a:solidFill>
                          <a:latin typeface="Arial"/>
                          <a:ea typeface="Arial"/>
                          <a:cs typeface="Arial"/>
                          <a:sym typeface="Arial"/>
                        </a:rPr>
                        <a:t>miễn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đủ</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100 </a:t>
                      </a:r>
                      <a:r>
                        <a:rPr lang="en-US" sz="2000" dirty="0" err="1">
                          <a:solidFill>
                            <a:srgbClr val="000000"/>
                          </a:solidFill>
                          <a:latin typeface="Arial"/>
                          <a:ea typeface="Arial"/>
                          <a:cs typeface="Arial"/>
                          <a:sym typeface="Arial"/>
                        </a:rPr>
                        <a:t>người</a:t>
                      </a:r>
                      <a:r>
                        <a:rPr lang="en-US" sz="2000" dirty="0">
                          <a:solidFill>
                            <a:srgbClr val="000000"/>
                          </a:solidFill>
                          <a:latin typeface="Arial"/>
                          <a:ea typeface="Arial"/>
                          <a:cs typeface="Arial"/>
                          <a:sym typeface="Arial"/>
                        </a:rPr>
                        <a:t> </a:t>
                      </a:r>
                      <a:r>
                        <a:rPr lang="en-US" sz="2000">
                          <a:solidFill>
                            <a:srgbClr val="000000"/>
                          </a:solidFill>
                          <a:latin typeface="Arial"/>
                          <a:ea typeface="Arial"/>
                          <a:cs typeface="Arial"/>
                          <a:sym typeface="Arial"/>
                        </a:rPr>
                        <a:t>dùng)</a:t>
                      </a:r>
                      <a:endParaRPr lang="en-US" sz="1100" dirty="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10074">
                <a:tc>
                  <a:txBody>
                    <a:bodyPr/>
                    <a:lstStyle/>
                    <a:p>
                      <a:pPr algn="ctr">
                        <a:lnSpc>
                          <a:spcPts val="2400"/>
                        </a:lnSpc>
                        <a:defRPr/>
                      </a:pPr>
                      <a:r>
                        <a:rPr lang="en-US" sz="2000">
                          <a:solidFill>
                            <a:srgbClr val="000000"/>
                          </a:solidFill>
                          <a:latin typeface="Arial"/>
                          <a:ea typeface="Arial"/>
                          <a:cs typeface="Arial"/>
                          <a:sym typeface="Arial"/>
                        </a:rPr>
                        <a:t>3</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Tích hợp Trí tuệ nhân tạo</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API mã nguồn mở / Token giáo dục miễn phí</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10074">
                <a:tc>
                  <a:txBody>
                    <a:bodyPr/>
                    <a:lstStyle/>
                    <a:p>
                      <a:pPr algn="ctr">
                        <a:lnSpc>
                          <a:spcPts val="2400"/>
                        </a:lnSpc>
                        <a:defRPr/>
                      </a:pPr>
                      <a:r>
                        <a:rPr lang="en-US" sz="2000">
                          <a:solidFill>
                            <a:srgbClr val="000000"/>
                          </a:solidFill>
                          <a:latin typeface="Arial"/>
                          <a:ea typeface="Arial"/>
                          <a:cs typeface="Arial"/>
                          <a:sym typeface="Arial"/>
                        </a:rPr>
                        <a:t>4</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Lập trình phần mềm</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Flutter &amp; Python backend</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10074">
                <a:tc>
                  <a:txBody>
                    <a:bodyPr/>
                    <a:lstStyle/>
                    <a:p>
                      <a:pPr algn="ctr">
                        <a:lnSpc>
                          <a:spcPts val="2400"/>
                        </a:lnSpc>
                        <a:defRPr/>
                      </a:pPr>
                      <a:r>
                        <a:rPr lang="en-US" sz="2000">
                          <a:solidFill>
                            <a:srgbClr val="000000"/>
                          </a:solidFill>
                          <a:latin typeface="Arial"/>
                          <a:ea typeface="Arial"/>
                          <a:cs typeface="Arial"/>
                          <a:sym typeface="Arial"/>
                        </a:rPr>
                        <a:t>5</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Truyền thông &amp; Khảo sát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In ấn poster giới thiệu tại trường, phiếu khảo sát</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500.000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610074">
                <a:tc>
                  <a:txBody>
                    <a:bodyPr/>
                    <a:lstStyle/>
                    <a:p>
                      <a:pPr algn="ctr">
                        <a:lnSpc>
                          <a:spcPts val="2400"/>
                        </a:lnSpc>
                        <a:defRPr/>
                      </a:pPr>
                      <a:r>
                        <a:rPr lang="en-US" sz="2000">
                          <a:solidFill>
                            <a:srgbClr val="000000"/>
                          </a:solidFill>
                          <a:latin typeface="Arial"/>
                          <a:ea typeface="Arial"/>
                          <a:cs typeface="Arial"/>
                          <a:sym typeface="Arial"/>
                        </a:rPr>
                        <a:t>6</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Tên miền và triển khai thử nghiệm</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Hosting/tên miền demo</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1.000.000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10074">
                <a:tc>
                  <a:txBody>
                    <a:bodyPr/>
                    <a:lstStyle/>
                    <a:p>
                      <a:pPr algn="ctr">
                        <a:lnSpc>
                          <a:spcPts val="2400"/>
                        </a:lnSpc>
                        <a:defRPr/>
                      </a:pPr>
                      <a:r>
                        <a:rPr lang="en-US" sz="2000">
                          <a:solidFill>
                            <a:srgbClr val="000000"/>
                          </a:solidFill>
                          <a:latin typeface="Arial"/>
                          <a:ea typeface="Arial"/>
                          <a:cs typeface="Arial"/>
                          <a:sym typeface="Arial"/>
                        </a:rPr>
                        <a:t>7</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Chi phí thử nghiệm thực tế</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Quà tặng khuyến khích (Sticker, huy hiệu học sinh xuất sắc)</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600.000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610074">
                <a:tc>
                  <a:txBody>
                    <a:bodyPr/>
                    <a:lstStyle/>
                    <a:p>
                      <a:pPr algn="ctr">
                        <a:lnSpc>
                          <a:spcPts val="2400"/>
                        </a:lnSpc>
                        <a:defRPr/>
                      </a:pPr>
                      <a:r>
                        <a:rPr lang="en-US" sz="2000">
                          <a:solidFill>
                            <a:srgbClr val="000000"/>
                          </a:solidFill>
                          <a:latin typeface="Arial"/>
                          <a:ea typeface="Arial"/>
                          <a:cs typeface="Arial"/>
                          <a:sym typeface="Arial"/>
                        </a:rPr>
                        <a:t>8</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dirty="0">
                          <a:solidFill>
                            <a:srgbClr val="000000"/>
                          </a:solidFill>
                          <a:latin typeface="Arial"/>
                          <a:ea typeface="Arial"/>
                          <a:cs typeface="Arial"/>
                          <a:sym typeface="Arial"/>
                        </a:rPr>
                        <a:t>Chi </a:t>
                      </a:r>
                      <a:r>
                        <a:rPr lang="en-US" sz="2000" dirty="0" err="1">
                          <a:solidFill>
                            <a:srgbClr val="000000"/>
                          </a:solidFill>
                          <a:latin typeface="Arial"/>
                          <a:ea typeface="Arial"/>
                          <a:cs typeface="Arial"/>
                          <a:sym typeface="Arial"/>
                        </a:rPr>
                        <a:t>phí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dự</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phòng</a:t>
                      </a:r>
                      <a:endParaRPr lang="en-US" sz="1100" dirty="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Chi phí phát sinh trong quá trình thực hiện</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Arial"/>
                          <a:ea typeface="Arial"/>
                          <a:cs typeface="Arial"/>
                          <a:sym typeface="Arial"/>
                        </a:rPr>
                        <a:t>500.000</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610074">
                <a:tc>
                  <a:txBody>
                    <a:bodyPr/>
                    <a:lstStyle/>
                    <a:p>
                      <a:pPr algn="ctr">
                        <a:lnSpc>
                          <a:spcPts val="2400"/>
                        </a:lnSpc>
                        <a:defRPr/>
                      </a:pPr>
                      <a:r>
                        <a:rPr lang="en-US" sz="2000">
                          <a:solidFill>
                            <a:srgbClr val="000000"/>
                          </a:solidFill>
                          <a:latin typeface="Arial"/>
                          <a:ea typeface="Arial"/>
                          <a:cs typeface="Arial"/>
                          <a:sym typeface="Arial"/>
                        </a:rPr>
                        <a:t>Tổng</a:t>
                      </a: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9D9D9"/>
                    </a:solidFill>
                  </a:tcPr>
                </a:tc>
                <a:tc gridSpan="2">
                  <a:txBody>
                    <a:bodyPr/>
                    <a:lstStyle/>
                    <a:p>
                      <a:pPr algn="ctr">
                        <a:lnSpc>
                          <a:spcPts val="2800"/>
                        </a:lnSpc>
                        <a:defRPr/>
                      </a:pP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9D9D9"/>
                    </a:solidFill>
                  </a:tcPr>
                </a:tc>
                <a:tc hMerge="1">
                  <a:txBody>
                    <a:bodyPr/>
                    <a:lstStyle/>
                    <a:p>
                      <a:pPr algn="ctr">
                        <a:lnSpc>
                          <a:spcPts val="2800"/>
                        </a:lnSpc>
                        <a:defRPr/>
                      </a:pPr>
                      <a:endParaRPr lang="en-US" sz="110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9D9D9"/>
                    </a:solidFill>
                  </a:tcPr>
                </a:tc>
                <a:tc>
                  <a:txBody>
                    <a:bodyPr/>
                    <a:lstStyle/>
                    <a:p>
                      <a:pPr algn="ctr">
                        <a:lnSpc>
                          <a:spcPts val="2800"/>
                        </a:lnSpc>
                        <a:defRPr/>
                      </a:pPr>
                      <a:r>
                        <a:rPr lang="en-US" sz="2000" dirty="0">
                          <a:solidFill>
                            <a:srgbClr val="000000"/>
                          </a:solidFill>
                          <a:latin typeface="Arial"/>
                          <a:ea typeface="Arial"/>
                          <a:cs typeface="Arial"/>
                          <a:sym typeface="Arial"/>
                        </a:rPr>
                        <a:t>2.600.000</a:t>
                      </a:r>
                      <a:endParaRPr lang="en-US" sz="1100" dirty="0"/>
                    </a:p>
                  </a:txBody>
                  <a:tcPr marL="91425" marR="91425" marT="91425" marB="91425">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33425"/>
            <a:ext cx="13020937" cy="561975"/>
          </a:xfrm>
          <a:prstGeom prst="rect">
            <a:avLst/>
          </a:prstGeom>
        </p:spPr>
        <p:txBody>
          <a:bodyPr lIns="0" tIns="0" rIns="0" bIns="0" rtlCol="0" anchor="t">
            <a:spAutoFit/>
          </a:bodyPr>
          <a:lstStyle/>
          <a:p>
            <a:pPr algn="l">
              <a:lnSpc>
                <a:spcPts val="4200"/>
              </a:lnSpc>
              <a:spcBef>
                <a:spcPct val="0"/>
              </a:spcBef>
            </a:pPr>
            <a:r>
              <a:rPr lang="en-US" sz="3500" b="1">
                <a:solidFill>
                  <a:srgbClr val="000000"/>
                </a:solidFill>
                <a:latin typeface="Arial Bold"/>
                <a:ea typeface="Arial Bold"/>
                <a:cs typeface="Arial Bold"/>
                <a:sym typeface="Arial Bold"/>
              </a:rPr>
              <a:t>6.2.  Kế hoạch triển khai </a:t>
            </a:r>
          </a:p>
        </p:txBody>
      </p:sp>
      <p:sp>
        <p:nvSpPr>
          <p:cNvPr id="3" name="TextBox 3"/>
          <p:cNvSpPr txBox="1"/>
          <p:nvPr/>
        </p:nvSpPr>
        <p:spPr>
          <a:xfrm>
            <a:off x="1028700" y="2035738"/>
            <a:ext cx="13429777" cy="5572125"/>
          </a:xfrm>
          <a:prstGeom prst="rect">
            <a:avLst/>
          </a:prstGeom>
        </p:spPr>
        <p:txBody>
          <a:bodyPr lIns="0" tIns="0" rIns="0" bIns="0" rtlCol="0" anchor="t">
            <a:spAutoFit/>
          </a:bodyPr>
          <a:lstStyle/>
          <a:p>
            <a:pPr algn="l">
              <a:lnSpc>
                <a:spcPts val="4034"/>
              </a:lnSpc>
            </a:pPr>
            <a:r>
              <a:rPr lang="en-US" sz="3361" b="1">
                <a:solidFill>
                  <a:srgbClr val="000000"/>
                </a:solidFill>
                <a:latin typeface="Arial Bold"/>
                <a:ea typeface="Arial Bold"/>
                <a:cs typeface="Arial Bold"/>
                <a:sym typeface="Arial Bold"/>
              </a:rPr>
              <a:t>Kế hoạch phát triển sản phẩm trong 3 tháng</a:t>
            </a:r>
          </a:p>
          <a:p>
            <a:pPr algn="l">
              <a:lnSpc>
                <a:spcPts val="4034"/>
              </a:lnSpc>
            </a:pPr>
            <a:r>
              <a:rPr lang="en-US" sz="3361">
                <a:solidFill>
                  <a:srgbClr val="000000"/>
                </a:solidFill>
                <a:latin typeface="Arial"/>
                <a:ea typeface="Arial"/>
                <a:cs typeface="Arial"/>
                <a:sym typeface="Arial"/>
              </a:rPr>
              <a:t>Tháng 1: Nghiên cứu và xác định vấn đề.</a:t>
            </a:r>
          </a:p>
          <a:p>
            <a:pPr algn="l">
              <a:lnSpc>
                <a:spcPts val="4034"/>
              </a:lnSpc>
            </a:pPr>
            <a:r>
              <a:rPr lang="en-US" sz="3361">
                <a:solidFill>
                  <a:srgbClr val="000000"/>
                </a:solidFill>
                <a:latin typeface="Arial"/>
                <a:ea typeface="Arial"/>
                <a:cs typeface="Arial"/>
                <a:sym typeface="Arial"/>
              </a:rPr>
              <a:t>Tháng 2: Thiết kế và phát triển sản phẩm.</a:t>
            </a:r>
          </a:p>
          <a:p>
            <a:pPr algn="l">
              <a:lnSpc>
                <a:spcPts val="4034"/>
              </a:lnSpc>
            </a:pPr>
            <a:r>
              <a:rPr lang="en-US" sz="3361">
                <a:solidFill>
                  <a:srgbClr val="000000"/>
                </a:solidFill>
                <a:latin typeface="Arial"/>
                <a:ea typeface="Arial"/>
                <a:cs typeface="Arial"/>
                <a:sym typeface="Arial"/>
              </a:rPr>
              <a:t>Tháng 3: Kiểm thử và hoàn thiện.</a:t>
            </a:r>
          </a:p>
          <a:p>
            <a:pPr algn="l">
              <a:lnSpc>
                <a:spcPts val="4034"/>
              </a:lnSpc>
            </a:pPr>
            <a:endParaRPr lang="en-US" sz="3361">
              <a:solidFill>
                <a:srgbClr val="000000"/>
              </a:solidFill>
              <a:latin typeface="Arial"/>
              <a:ea typeface="Arial"/>
              <a:cs typeface="Arial"/>
              <a:sym typeface="Arial"/>
            </a:endParaRPr>
          </a:p>
          <a:p>
            <a:pPr algn="l">
              <a:lnSpc>
                <a:spcPts val="4034"/>
              </a:lnSpc>
            </a:pPr>
            <a:r>
              <a:rPr lang="en-US" sz="3361" b="1">
                <a:solidFill>
                  <a:srgbClr val="000000"/>
                </a:solidFill>
                <a:latin typeface="Arial Bold"/>
                <a:ea typeface="Arial Bold"/>
                <a:cs typeface="Arial Bold"/>
                <a:sym typeface="Arial Bold"/>
              </a:rPr>
              <a:t>Mốc sản phẩm (Product Milestones)</a:t>
            </a:r>
          </a:p>
          <a:p>
            <a:pPr algn="l">
              <a:lnSpc>
                <a:spcPts val="4034"/>
              </a:lnSpc>
            </a:pPr>
            <a:r>
              <a:rPr lang="en-US" sz="3361">
                <a:solidFill>
                  <a:srgbClr val="000000"/>
                </a:solidFill>
                <a:latin typeface="Arial"/>
                <a:ea typeface="Arial"/>
                <a:cs typeface="Arial"/>
                <a:sym typeface="Arial"/>
              </a:rPr>
              <a:t>🎯 M1 (Tuần 4): Hoàn thành nghiên cứu và xác định vấn đề.</a:t>
            </a:r>
          </a:p>
          <a:p>
            <a:pPr algn="l">
              <a:lnSpc>
                <a:spcPts val="4034"/>
              </a:lnSpc>
            </a:pPr>
            <a:r>
              <a:rPr lang="en-US" sz="3361">
                <a:solidFill>
                  <a:srgbClr val="000000"/>
                </a:solidFill>
                <a:latin typeface="Arial"/>
                <a:ea typeface="Arial"/>
                <a:cs typeface="Arial"/>
                <a:sym typeface="Arial"/>
              </a:rPr>
              <a:t>🎯 M2 (Tuần 6): Hoàn thành Prototype.</a:t>
            </a:r>
          </a:p>
          <a:p>
            <a:pPr algn="l">
              <a:lnSpc>
                <a:spcPts val="4034"/>
              </a:lnSpc>
            </a:pPr>
            <a:r>
              <a:rPr lang="en-US" sz="3361">
                <a:solidFill>
                  <a:srgbClr val="000000"/>
                </a:solidFill>
                <a:latin typeface="Arial"/>
                <a:ea typeface="Arial"/>
                <a:cs typeface="Arial"/>
                <a:sym typeface="Arial"/>
              </a:rPr>
              <a:t>🎯 M3 (Tuần 9): Hoàn thành MVP tích hợp AI.</a:t>
            </a:r>
          </a:p>
          <a:p>
            <a:pPr algn="l">
              <a:lnSpc>
                <a:spcPts val="4034"/>
              </a:lnSpc>
            </a:pPr>
            <a:r>
              <a:rPr lang="en-US" sz="3361">
                <a:solidFill>
                  <a:srgbClr val="000000"/>
                </a:solidFill>
                <a:latin typeface="Arial"/>
                <a:ea typeface="Arial"/>
                <a:cs typeface="Arial"/>
                <a:sym typeface="Arial"/>
              </a:rPr>
              <a:t>🎯 M4 (Tuần 12): Hoàn thành Beta Test và báo cáo đánh giá.</a:t>
            </a:r>
          </a:p>
          <a:p>
            <a:pPr algn="l">
              <a:lnSpc>
                <a:spcPts val="4034"/>
              </a:lnSpc>
              <a:spcBef>
                <a:spcPct val="0"/>
              </a:spcBef>
            </a:pPr>
            <a:endParaRPr lang="en-US" sz="3361">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70532" y="151533"/>
            <a:ext cx="3696205" cy="877167"/>
            <a:chOff x="0" y="0"/>
            <a:chExt cx="4928273" cy="1169556"/>
          </a:xfrm>
        </p:grpSpPr>
        <p:sp>
          <p:nvSpPr>
            <p:cNvPr id="3" name="Freeform 3"/>
            <p:cNvSpPr/>
            <p:nvPr/>
          </p:nvSpPr>
          <p:spPr>
            <a:xfrm>
              <a:off x="0" y="0"/>
              <a:ext cx="4928272" cy="1169550"/>
            </a:xfrm>
            <a:custGeom>
              <a:avLst/>
              <a:gdLst/>
              <a:ahLst/>
              <a:cxnLst/>
              <a:rect l="l" t="t" r="r" b="b"/>
              <a:pathLst>
                <a:path w="4928272" h="1169550">
                  <a:moveTo>
                    <a:pt x="0" y="0"/>
                  </a:moveTo>
                  <a:lnTo>
                    <a:pt x="4928272" y="0"/>
                  </a:lnTo>
                  <a:lnTo>
                    <a:pt x="4928272" y="1169550"/>
                  </a:lnTo>
                  <a:lnTo>
                    <a:pt x="0" y="1169550"/>
                  </a:lnTo>
                  <a:close/>
                </a:path>
              </a:pathLst>
            </a:custGeom>
            <a:blipFill>
              <a:blip r:embed="rId2">
                <a:alphaModFix amt="0"/>
              </a:blip>
              <a:stretch>
                <a:fillRect t="-32106" b="-32106"/>
              </a:stretch>
            </a:blipFill>
          </p:spPr>
          <p:txBody>
            <a:bodyPr/>
            <a:lstStyle/>
            <a:p>
              <a:endParaRPr lang="en-US"/>
            </a:p>
          </p:txBody>
        </p:sp>
        <p:sp>
          <p:nvSpPr>
            <p:cNvPr id="4" name="TextBox 4"/>
            <p:cNvSpPr txBox="1"/>
            <p:nvPr/>
          </p:nvSpPr>
          <p:spPr>
            <a:xfrm>
              <a:off x="0" y="-19050"/>
              <a:ext cx="4928273" cy="1188606"/>
            </a:xfrm>
            <a:prstGeom prst="rect">
              <a:avLst/>
            </a:prstGeom>
          </p:spPr>
          <p:txBody>
            <a:bodyPr lIns="0" tIns="0" rIns="0" bIns="0" rtlCol="0" anchor="ctr"/>
            <a:lstStyle/>
            <a:p>
              <a:pPr algn="l">
                <a:lnSpc>
                  <a:spcPts val="5759"/>
                </a:lnSpc>
              </a:pPr>
              <a:r>
                <a:rPr lang="en-US" sz="4800" b="1">
                  <a:solidFill>
                    <a:srgbClr val="000000"/>
                  </a:solidFill>
                  <a:latin typeface="Arial Bold"/>
                  <a:ea typeface="Arial Bold"/>
                  <a:cs typeface="Arial Bold"/>
                  <a:sym typeface="Arial Bold"/>
                </a:rPr>
                <a:t>7. PHỤ LỤC</a:t>
              </a:r>
            </a:p>
          </p:txBody>
        </p:sp>
      </p:grpSp>
      <p:sp>
        <p:nvSpPr>
          <p:cNvPr id="5" name="TextBox 5"/>
          <p:cNvSpPr txBox="1"/>
          <p:nvPr/>
        </p:nvSpPr>
        <p:spPr>
          <a:xfrm>
            <a:off x="476618" y="1158189"/>
            <a:ext cx="17612790" cy="8848725"/>
          </a:xfrm>
          <a:prstGeom prst="rect">
            <a:avLst/>
          </a:prstGeom>
        </p:spPr>
        <p:txBody>
          <a:bodyPr lIns="0" tIns="0" rIns="0" bIns="0" rtlCol="0" anchor="t">
            <a:spAutoFit/>
          </a:bodyPr>
          <a:lstStyle/>
          <a:p>
            <a:pPr algn="l">
              <a:lnSpc>
                <a:spcPts val="2400"/>
              </a:lnSpc>
            </a:pPr>
            <a:r>
              <a:rPr lang="en-US" sz="2000" b="1" dirty="0" err="1">
                <a:solidFill>
                  <a:srgbClr val="000000"/>
                </a:solidFill>
                <a:latin typeface="Arial Bold"/>
                <a:ea typeface="Arial Bold"/>
                <a:cs typeface="Arial Bold"/>
                <a:sym typeface="Arial Bold"/>
              </a:rPr>
              <a:t>Phụ</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lục</a:t>
            </a:r>
            <a:r>
              <a:rPr lang="en-US" sz="2000" b="1" dirty="0">
                <a:solidFill>
                  <a:srgbClr val="000000"/>
                </a:solidFill>
                <a:latin typeface="Arial Bold"/>
                <a:ea typeface="Arial Bold"/>
                <a:cs typeface="Arial Bold"/>
                <a:sym typeface="Arial Bold"/>
              </a:rPr>
              <a:t> A: </a:t>
            </a:r>
            <a:r>
              <a:rPr lang="en-US" sz="2000" b="1" dirty="0" err="1">
                <a:solidFill>
                  <a:srgbClr val="000000"/>
                </a:solidFill>
                <a:latin typeface="Arial Bold"/>
                <a:ea typeface="Arial Bold"/>
                <a:cs typeface="Arial Bold"/>
                <a:sym typeface="Arial Bold"/>
              </a:rPr>
              <a:t>Biểu</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mẫu</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câu</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hỏi</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khảo</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sát</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nhanh</a:t>
            </a:r>
            <a:r>
              <a:rPr lang="en-US" sz="2000" b="1" dirty="0">
                <a:solidFill>
                  <a:srgbClr val="000000"/>
                </a:solidFill>
                <a:latin typeface="Arial Bold"/>
                <a:ea typeface="Arial Bold"/>
                <a:cs typeface="Arial Bold"/>
                <a:sym typeface="Arial Bold"/>
              </a:rPr>
              <a:t> (Minh </a:t>
            </a:r>
            <a:r>
              <a:rPr lang="en-US" sz="2000" b="1" dirty="0" err="1">
                <a:solidFill>
                  <a:srgbClr val="000000"/>
                </a:solidFill>
                <a:latin typeface="Arial Bold"/>
                <a:ea typeface="Arial Bold"/>
                <a:cs typeface="Arial Bold"/>
                <a:sym typeface="Arial Bold"/>
              </a:rPr>
              <a:t>họa</a:t>
            </a:r>
            <a:r>
              <a:rPr lang="en-US" sz="2000" b="1" dirty="0">
                <a:solidFill>
                  <a:srgbClr val="000000"/>
                </a:solidFill>
                <a:latin typeface="Arial Bold"/>
                <a:ea typeface="Arial Bold"/>
                <a:cs typeface="Arial Bold"/>
                <a:sym typeface="Arial Bold"/>
              </a:rPr>
              <a:t>): </a:t>
            </a:r>
          </a:p>
          <a:p>
            <a:pPr algn="l">
              <a:lnSpc>
                <a:spcPts val="2400"/>
              </a:lnSpc>
              <a:spcBef>
                <a:spcPct val="0"/>
              </a:spcBef>
            </a:pPr>
            <a:r>
              <a:rPr lang="en-US" sz="2000" dirty="0">
                <a:solidFill>
                  <a:srgbClr val="000000"/>
                </a:solidFill>
                <a:latin typeface="Arial"/>
                <a:ea typeface="Arial"/>
                <a:cs typeface="Arial"/>
                <a:sym typeface="Arial"/>
              </a:rPr>
              <a:t>1. *Trung </a:t>
            </a:r>
            <a:r>
              <a:rPr lang="en-US" sz="2000" dirty="0" err="1">
                <a:solidFill>
                  <a:srgbClr val="000000"/>
                </a:solidFill>
                <a:latin typeface="Arial"/>
                <a:ea typeface="Arial"/>
                <a:cs typeface="Arial"/>
                <a:sym typeface="Arial"/>
              </a:rPr>
              <a:t>bình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một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ngày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em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dành</a:t>
            </a:r>
            <a:r>
              <a:rPr lang="en-US" sz="2000" dirty="0">
                <a:solidFill>
                  <a:srgbClr val="000000"/>
                </a:solidFill>
                <a:latin typeface="Arial"/>
                <a:ea typeface="Arial"/>
                <a:cs typeface="Arial"/>
                <a:sym typeface="Arial"/>
              </a:rPr>
              <a:t> bao </a:t>
            </a:r>
            <a:r>
              <a:rPr lang="en-US" sz="2000" dirty="0" err="1">
                <a:solidFill>
                  <a:srgbClr val="000000"/>
                </a:solidFill>
                <a:latin typeface="Arial"/>
                <a:ea typeface="Arial"/>
                <a:cs typeface="Arial"/>
                <a:sym typeface="Arial"/>
              </a:rPr>
              <a:t>nhiêu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tiếng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để</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thoại</a:t>
            </a:r>
            <a:r>
              <a:rPr lang="en-US" sz="2000" dirty="0">
                <a:solidFill>
                  <a:srgbClr val="000000"/>
                </a:solidFill>
                <a:latin typeface="Arial"/>
                <a:ea typeface="Arial"/>
                <a:cs typeface="Arial"/>
                <a:sym typeface="Arial"/>
              </a:rPr>
              <a:t>/</a:t>
            </a:r>
            <a:r>
              <a:rPr lang="en-US" sz="2000" dirty="0" err="1">
                <a:solidFill>
                  <a:srgbClr val="000000"/>
                </a:solidFill>
                <a:latin typeface="Arial"/>
                <a:ea typeface="Arial"/>
                <a:cs typeface="Arial"/>
                <a:sym typeface="Arial"/>
              </a:rPr>
              <a:t>máy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tính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ngoài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giờ</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học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Dưới</a:t>
            </a:r>
            <a:r>
              <a:rPr lang="en-US" sz="2000" dirty="0">
                <a:solidFill>
                  <a:srgbClr val="000000"/>
                </a:solidFill>
                <a:latin typeface="Arial"/>
                <a:ea typeface="Arial"/>
                <a:cs typeface="Arial"/>
                <a:sym typeface="Arial"/>
              </a:rPr>
              <a:t> 1h / 1h-3h / </a:t>
            </a:r>
            <a:r>
              <a:rPr lang="en-US" sz="2000" dirty="0" err="1">
                <a:solidFill>
                  <a:srgbClr val="000000"/>
                </a:solidFill>
                <a:latin typeface="Arial"/>
                <a:ea typeface="Arial"/>
                <a:cs typeface="Arial"/>
                <a:sym typeface="Arial"/>
              </a:rPr>
              <a:t>Trên</a:t>
            </a:r>
            <a:r>
              <a:rPr lang="en-US" sz="2000" dirty="0">
                <a:solidFill>
                  <a:srgbClr val="000000"/>
                </a:solidFill>
                <a:latin typeface="Arial"/>
                <a:ea typeface="Arial"/>
                <a:cs typeface="Arial"/>
                <a:sym typeface="Arial"/>
              </a:rPr>
              <a:t> 3h)</a:t>
            </a:r>
          </a:p>
          <a:p>
            <a:pPr algn="l">
              <a:lnSpc>
                <a:spcPts val="2400"/>
              </a:lnSpc>
              <a:spcBef>
                <a:spcPct val="0"/>
              </a:spcBef>
            </a:pPr>
            <a:r>
              <a:rPr lang="en-US" sz="2000" dirty="0">
                <a:solidFill>
                  <a:srgbClr val="000000"/>
                </a:solidFill>
                <a:latin typeface="Arial"/>
                <a:ea typeface="Arial"/>
                <a:cs typeface="Arial"/>
                <a:sym typeface="Arial"/>
              </a:rPr>
              <a:t>2. *Em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xuyên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bị</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mỏi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mắt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hoặc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đau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vai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gáy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ngồi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học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Hiếm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khi</a:t>
            </a:r>
            <a:r>
              <a:rPr lang="en-US" sz="2000" dirty="0">
                <a:solidFill>
                  <a:srgbClr val="000000"/>
                </a:solidFill>
                <a:latin typeface="Arial"/>
                <a:ea typeface="Arial"/>
                <a:cs typeface="Arial"/>
                <a:sym typeface="Arial"/>
              </a:rPr>
              <a:t> / Thường </a:t>
            </a:r>
            <a:r>
              <a:rPr lang="en-US" sz="2000" dirty="0" err="1">
                <a:solidFill>
                  <a:srgbClr val="000000"/>
                </a:solidFill>
                <a:latin typeface="Arial"/>
                <a:ea typeface="Arial"/>
                <a:cs typeface="Arial"/>
                <a:sym typeface="Arial"/>
              </a:rPr>
              <a:t>xuyên</a:t>
            </a:r>
            <a:r>
              <a:rPr lang="en-US" sz="2000" dirty="0">
                <a:solidFill>
                  <a:srgbClr val="000000"/>
                </a:solidFill>
                <a:latin typeface="Arial"/>
                <a:ea typeface="Arial"/>
                <a:cs typeface="Arial"/>
                <a:sym typeface="Arial"/>
              </a:rPr>
              <a:t> / </a:t>
            </a:r>
            <a:r>
              <a:rPr lang="en-US" sz="2000" dirty="0" err="1">
                <a:solidFill>
                  <a:srgbClr val="000000"/>
                </a:solidFill>
                <a:latin typeface="Arial"/>
                <a:ea typeface="Arial"/>
                <a:cs typeface="Arial"/>
                <a:sym typeface="Arial"/>
              </a:rPr>
              <a:t>Rất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xuyên</a:t>
            </a:r>
            <a:r>
              <a:rPr lang="en-US" sz="2000" dirty="0">
                <a:solidFill>
                  <a:srgbClr val="000000"/>
                </a:solidFill>
                <a:latin typeface="Arial"/>
                <a:ea typeface="Arial"/>
                <a:cs typeface="Arial"/>
                <a:sym typeface="Arial"/>
              </a:rPr>
              <a:t>)</a:t>
            </a:r>
          </a:p>
          <a:p>
            <a:pPr algn="l">
              <a:lnSpc>
                <a:spcPts val="2400"/>
              </a:lnSpc>
              <a:spcBef>
                <a:spcPct val="0"/>
              </a:spcBef>
            </a:pPr>
            <a:r>
              <a:rPr lang="en-US" sz="2000" dirty="0">
                <a:solidFill>
                  <a:srgbClr val="000000"/>
                </a:solidFill>
                <a:latin typeface="Arial"/>
                <a:ea typeface="Arial"/>
                <a:cs typeface="Arial"/>
                <a:sym typeface="Arial"/>
              </a:rPr>
              <a:t>3. *Em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thói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quen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uống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đủ</a:t>
            </a:r>
            <a:r>
              <a:rPr lang="en-US" sz="2000" dirty="0">
                <a:solidFill>
                  <a:srgbClr val="000000"/>
                </a:solidFill>
                <a:latin typeface="Arial"/>
                <a:ea typeface="Arial"/>
                <a:cs typeface="Arial"/>
                <a:sym typeface="Arial"/>
              </a:rPr>
              <a:t> 1.5 - 2 </a:t>
            </a:r>
            <a:r>
              <a:rPr lang="en-US" sz="2000" dirty="0" err="1">
                <a:solidFill>
                  <a:srgbClr val="000000"/>
                </a:solidFill>
                <a:latin typeface="Arial"/>
                <a:ea typeface="Arial"/>
                <a:cs typeface="Arial"/>
                <a:sym typeface="Arial"/>
              </a:rPr>
              <a:t>lít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nước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mỗi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ngày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để</a:t>
            </a:r>
            <a:r>
              <a:rPr lang="en-US" sz="2000" dirty="0">
                <a:solidFill>
                  <a:srgbClr val="000000"/>
                </a:solidFill>
                <a:latin typeface="Arial"/>
                <a:ea typeface="Arial"/>
                <a:cs typeface="Arial"/>
                <a:sym typeface="Arial"/>
              </a:rPr>
              <a:t> ý)</a:t>
            </a:r>
          </a:p>
          <a:p>
            <a:pPr algn="l">
              <a:lnSpc>
                <a:spcPts val="2400"/>
              </a:lnSpc>
              <a:spcBef>
                <a:spcPct val="0"/>
              </a:spcBef>
            </a:pPr>
            <a:r>
              <a:rPr lang="en-US" sz="2000" b="1" dirty="0" err="1">
                <a:solidFill>
                  <a:srgbClr val="000000"/>
                </a:solidFill>
                <a:latin typeface="Arial Bold"/>
                <a:ea typeface="Arial Bold"/>
                <a:cs typeface="Arial Bold"/>
                <a:sym typeface="Arial Bold"/>
              </a:rPr>
              <a:t>Phụ</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lục</a:t>
            </a:r>
            <a:r>
              <a:rPr lang="en-US" sz="2000" b="1" dirty="0">
                <a:solidFill>
                  <a:srgbClr val="000000"/>
                </a:solidFill>
                <a:latin typeface="Arial Bold"/>
                <a:ea typeface="Arial Bold"/>
                <a:cs typeface="Arial Bold"/>
                <a:sym typeface="Arial Bold"/>
              </a:rPr>
              <a:t> B: </a:t>
            </a:r>
            <a:r>
              <a:rPr lang="en-US" sz="2000" b="1" dirty="0" err="1">
                <a:solidFill>
                  <a:srgbClr val="000000"/>
                </a:solidFill>
                <a:latin typeface="Arial Bold"/>
                <a:ea typeface="Arial Bold"/>
                <a:cs typeface="Arial Bold"/>
                <a:sym typeface="Arial Bold"/>
              </a:rPr>
              <a:t>Sơ</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đồ</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kiến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trúc</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luồng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dữ</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liệu</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ứng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dụng</a:t>
            </a:r>
            <a:endParaRPr lang="en-US" sz="2000" b="1" dirty="0">
              <a:solidFill>
                <a:srgbClr val="000000"/>
              </a:solidFill>
              <a:latin typeface="Arial Bold"/>
              <a:ea typeface="Arial Bold"/>
              <a:cs typeface="Arial Bold"/>
              <a:sym typeface="Arial Bold"/>
            </a:endParaRPr>
          </a:p>
          <a:p>
            <a:pPr algn="ctr">
              <a:lnSpc>
                <a:spcPts val="2400"/>
              </a:lnSpc>
              <a:spcBef>
                <a:spcPct val="0"/>
              </a:spcBef>
            </a:pPr>
            <a:endParaRPr lang="en-US" sz="2000" b="1" dirty="0">
              <a:solidFill>
                <a:srgbClr val="000000"/>
              </a:solidFill>
              <a:latin typeface="Arial Bold"/>
              <a:ea typeface="Arial Bold"/>
              <a:cs typeface="Arial Bold"/>
              <a:sym typeface="Arial Bold"/>
            </a:endParaRPr>
          </a:p>
          <a:p>
            <a:pPr algn="ctr">
              <a:lnSpc>
                <a:spcPts val="2400"/>
              </a:lnSpc>
              <a:spcBef>
                <a:spcPct val="0"/>
              </a:spcBef>
            </a:pPr>
            <a:r>
              <a:rPr lang="en-US" sz="2000" b="1" dirty="0">
                <a:solidFill>
                  <a:srgbClr val="000000"/>
                </a:solidFill>
                <a:latin typeface="Arial Bold"/>
                <a:ea typeface="Arial Bold"/>
                <a:cs typeface="Arial Bold"/>
                <a:sym typeface="Arial Bold"/>
              </a:rPr>
              <a:t>```</a:t>
            </a:r>
          </a:p>
          <a:p>
            <a:pPr algn="ctr">
              <a:lnSpc>
                <a:spcPts val="2400"/>
              </a:lnSpc>
              <a:spcBef>
                <a:spcPct val="0"/>
              </a:spcBef>
            </a:pPr>
            <a:r>
              <a:rPr lang="en-US" sz="2000" b="1" dirty="0">
                <a:solidFill>
                  <a:srgbClr val="000000"/>
                </a:solidFill>
                <a:latin typeface="Arial Bold"/>
                <a:ea typeface="Arial Bold"/>
                <a:cs typeface="Arial Bold"/>
                <a:sym typeface="Arial Bold"/>
              </a:rPr>
              <a:t>[Học </a:t>
            </a:r>
            <a:r>
              <a:rPr lang="en-US" sz="2000" b="1" dirty="0" err="1">
                <a:solidFill>
                  <a:srgbClr val="000000"/>
                </a:solidFill>
                <a:latin typeface="Arial Bold"/>
                <a:ea typeface="Arial Bold"/>
                <a:cs typeface="Arial Bold"/>
                <a:sym typeface="Arial Bold"/>
              </a:rPr>
              <a:t>sinh</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nhập</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dữ</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liệu</a:t>
            </a:r>
            <a:r>
              <a:rPr lang="en-US" sz="2000" b="1" dirty="0">
                <a:solidFill>
                  <a:srgbClr val="000000"/>
                </a:solidFill>
                <a:latin typeface="Arial Bold"/>
                <a:ea typeface="Arial Bold"/>
                <a:cs typeface="Arial Bold"/>
                <a:sym typeface="Arial Bold"/>
              </a:rPr>
              <a:t> / Camera </a:t>
            </a:r>
            <a:r>
              <a:rPr lang="en-US" sz="2000" b="1" dirty="0" err="1">
                <a:solidFill>
                  <a:srgbClr val="000000"/>
                </a:solidFill>
                <a:latin typeface="Arial Bold"/>
                <a:ea typeface="Arial Bold"/>
                <a:cs typeface="Arial Bold"/>
                <a:sym typeface="Arial Bold"/>
              </a:rPr>
              <a:t>quét</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tư</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thế</a:t>
            </a:r>
            <a:r>
              <a:rPr lang="en-US" sz="2000" b="1" dirty="0">
                <a:solidFill>
                  <a:srgbClr val="000000"/>
                </a:solidFill>
                <a:latin typeface="Arial Bold"/>
                <a:ea typeface="Arial Bold"/>
                <a:cs typeface="Arial Bold"/>
                <a:sym typeface="Arial Bold"/>
              </a:rPr>
              <a:t>] </a:t>
            </a:r>
          </a:p>
          <a:p>
            <a:pPr algn="ctr">
              <a:lnSpc>
                <a:spcPts val="2400"/>
              </a:lnSpc>
              <a:spcBef>
                <a:spcPct val="0"/>
              </a:spcBef>
            </a:pPr>
            <a:r>
              <a:rPr lang="en-US" sz="2000" b="1" dirty="0">
                <a:solidFill>
                  <a:srgbClr val="000000"/>
                </a:solidFill>
                <a:latin typeface="Arial Bold"/>
                <a:ea typeface="Arial Bold"/>
                <a:cs typeface="Arial Bold"/>
                <a:sym typeface="Arial Bold"/>
              </a:rPr>
              <a:t>                    │</a:t>
            </a:r>
          </a:p>
          <a:p>
            <a:pPr algn="ctr">
              <a:lnSpc>
                <a:spcPts val="2400"/>
              </a:lnSpc>
              <a:spcBef>
                <a:spcPct val="0"/>
              </a:spcBef>
            </a:pPr>
            <a:r>
              <a:rPr lang="en-US" sz="2000" b="1" dirty="0">
                <a:solidFill>
                  <a:srgbClr val="000000"/>
                </a:solidFill>
                <a:latin typeface="Arial Bold"/>
                <a:ea typeface="Arial Bold"/>
                <a:cs typeface="Arial Bold"/>
                <a:sym typeface="Arial Bold"/>
              </a:rPr>
              <a:t>                    ▼</a:t>
            </a:r>
          </a:p>
          <a:p>
            <a:pPr algn="ctr">
              <a:lnSpc>
                <a:spcPts val="2400"/>
              </a:lnSpc>
              <a:spcBef>
                <a:spcPct val="0"/>
              </a:spcBef>
            </a:pPr>
            <a:r>
              <a:rPr lang="en-US" sz="2000" b="1" dirty="0">
                <a:solidFill>
                  <a:srgbClr val="000000"/>
                </a:solidFill>
                <a:latin typeface="Arial Bold"/>
                <a:ea typeface="Arial Bold"/>
                <a:cs typeface="Arial Bold"/>
                <a:sym typeface="Arial Bold"/>
              </a:rPr>
              <a:t>       [Firebase Cloud Database] </a:t>
            </a:r>
          </a:p>
          <a:p>
            <a:pPr algn="ctr">
              <a:lnSpc>
                <a:spcPts val="2400"/>
              </a:lnSpc>
              <a:spcBef>
                <a:spcPct val="0"/>
              </a:spcBef>
            </a:pPr>
            <a:r>
              <a:rPr lang="en-US" sz="2000" b="1" dirty="0">
                <a:solidFill>
                  <a:srgbClr val="000000"/>
                </a:solidFill>
                <a:latin typeface="Arial Bold"/>
                <a:ea typeface="Arial Bold"/>
                <a:cs typeface="Arial Bold"/>
                <a:sym typeface="Arial Bold"/>
              </a:rPr>
              <a:t>                    │</a:t>
            </a:r>
          </a:p>
          <a:p>
            <a:pPr algn="ctr">
              <a:lnSpc>
                <a:spcPts val="2400"/>
              </a:lnSpc>
              <a:spcBef>
                <a:spcPct val="0"/>
              </a:spcBef>
            </a:pPr>
            <a:r>
              <a:rPr lang="en-US" sz="2000" b="1" dirty="0">
                <a:solidFill>
                  <a:srgbClr val="000000"/>
                </a:solidFill>
                <a:latin typeface="Arial Bold"/>
                <a:ea typeface="Arial Bold"/>
                <a:cs typeface="Arial Bold"/>
                <a:sym typeface="Arial Bold"/>
              </a:rPr>
              <a:t>                    ▼</a:t>
            </a:r>
          </a:p>
          <a:p>
            <a:pPr algn="ctr">
              <a:lnSpc>
                <a:spcPts val="2400"/>
              </a:lnSpc>
              <a:spcBef>
                <a:spcPct val="0"/>
              </a:spcBef>
            </a:pPr>
            <a:r>
              <a:rPr lang="en-US" sz="2000" b="1" dirty="0">
                <a:solidFill>
                  <a:srgbClr val="000000"/>
                </a:solidFill>
                <a:latin typeface="Arial Bold"/>
                <a:ea typeface="Arial Bold"/>
                <a:cs typeface="Arial Bold"/>
                <a:sym typeface="Arial Bold"/>
              </a:rPr>
              <a:t>[</a:t>
            </a:r>
            <a:r>
              <a:rPr lang="en-US" sz="2000" b="1" dirty="0" err="1">
                <a:solidFill>
                  <a:srgbClr val="000000"/>
                </a:solidFill>
                <a:latin typeface="Arial Bold"/>
                <a:ea typeface="Arial Bold"/>
                <a:cs typeface="Arial Bold"/>
                <a:sym typeface="Arial Bold"/>
              </a:rPr>
              <a:t>Bộ</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não</a:t>
            </a:r>
            <a:r>
              <a:rPr lang="en-US" sz="2000" b="1" dirty="0">
                <a:solidFill>
                  <a:srgbClr val="000000"/>
                </a:solidFill>
                <a:latin typeface="Arial Bold"/>
                <a:ea typeface="Arial Bold"/>
                <a:cs typeface="Arial Bold"/>
                <a:sym typeface="Arial Bold"/>
              </a:rPr>
              <a:t> AI </a:t>
            </a:r>
            <a:r>
              <a:rPr lang="en-US" sz="2000" b="1" dirty="0" err="1">
                <a:solidFill>
                  <a:srgbClr val="000000"/>
                </a:solidFill>
                <a:latin typeface="Arial Bold"/>
                <a:ea typeface="Arial Bold"/>
                <a:cs typeface="Arial Bold"/>
                <a:sym typeface="Arial Bold"/>
              </a:rPr>
              <a:t>xử</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lý</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Tính</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toán</a:t>
            </a:r>
            <a:r>
              <a:rPr lang="en-US" sz="2000" b="1" dirty="0">
                <a:solidFill>
                  <a:srgbClr val="000000"/>
                </a:solidFill>
                <a:latin typeface="Arial Bold"/>
                <a:ea typeface="Arial Bold"/>
                <a:cs typeface="Arial Bold"/>
                <a:sym typeface="Arial Bold"/>
              </a:rPr>
              <a:t> TDEE / </a:t>
            </a:r>
            <a:r>
              <a:rPr lang="en-US" sz="2000" b="1" dirty="0" err="1">
                <a:solidFill>
                  <a:srgbClr val="000000"/>
                </a:solidFill>
                <a:latin typeface="Arial Bold"/>
                <a:ea typeface="Arial Bold"/>
                <a:cs typeface="Arial Bold"/>
                <a:sym typeface="Arial Bold"/>
              </a:rPr>
              <a:t>Phân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tích</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tư</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thế</a:t>
            </a:r>
            <a:r>
              <a:rPr lang="en-US" sz="2000" b="1" dirty="0">
                <a:solidFill>
                  <a:srgbClr val="000000"/>
                </a:solidFill>
                <a:latin typeface="Arial Bold"/>
                <a:ea typeface="Arial Bold"/>
                <a:cs typeface="Arial Bold"/>
                <a:sym typeface="Arial Bold"/>
              </a:rPr>
              <a:t> / Học </a:t>
            </a:r>
            <a:r>
              <a:rPr lang="en-US" sz="2000" b="1" dirty="0" err="1">
                <a:solidFill>
                  <a:srgbClr val="000000"/>
                </a:solidFill>
                <a:latin typeface="Arial Bold"/>
                <a:ea typeface="Arial Bold"/>
                <a:cs typeface="Arial Bold"/>
                <a:sym typeface="Arial Bold"/>
              </a:rPr>
              <a:t>máy</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hành</a:t>
            </a:r>
            <a:r>
              <a:rPr lang="en-US" sz="2000" b="1" dirty="0">
                <a:solidFill>
                  <a:srgbClr val="000000"/>
                </a:solidFill>
                <a:latin typeface="Arial Bold"/>
                <a:ea typeface="Arial Bold"/>
                <a:cs typeface="Arial Bold"/>
                <a:sym typeface="Arial Bold"/>
              </a:rPr>
              <a:t> vi]</a:t>
            </a:r>
          </a:p>
          <a:p>
            <a:pPr algn="ctr">
              <a:lnSpc>
                <a:spcPts val="2400"/>
              </a:lnSpc>
              <a:spcBef>
                <a:spcPct val="0"/>
              </a:spcBef>
            </a:pPr>
            <a:r>
              <a:rPr lang="en-US" sz="2000" b="1" dirty="0">
                <a:solidFill>
                  <a:srgbClr val="000000"/>
                </a:solidFill>
                <a:latin typeface="Arial Bold"/>
                <a:ea typeface="Arial Bold"/>
                <a:cs typeface="Arial Bold"/>
                <a:sym typeface="Arial Bold"/>
              </a:rPr>
              <a:t>                    │</a:t>
            </a:r>
          </a:p>
          <a:p>
            <a:pPr algn="ctr">
              <a:lnSpc>
                <a:spcPts val="2400"/>
              </a:lnSpc>
              <a:spcBef>
                <a:spcPct val="0"/>
              </a:spcBef>
            </a:pPr>
            <a:r>
              <a:rPr lang="en-US" sz="2000" b="1" dirty="0">
                <a:solidFill>
                  <a:srgbClr val="000000"/>
                </a:solidFill>
                <a:latin typeface="Arial Bold"/>
                <a:ea typeface="Arial Bold"/>
                <a:cs typeface="Arial Bold"/>
                <a:sym typeface="Arial Bold"/>
              </a:rPr>
              <a:t>                    ▼</a:t>
            </a:r>
          </a:p>
          <a:p>
            <a:pPr algn="ctr">
              <a:lnSpc>
                <a:spcPts val="2400"/>
              </a:lnSpc>
              <a:spcBef>
                <a:spcPct val="0"/>
              </a:spcBef>
            </a:pPr>
            <a:r>
              <a:rPr lang="en-US" sz="2000" b="1" dirty="0">
                <a:solidFill>
                  <a:srgbClr val="000000"/>
                </a:solidFill>
                <a:latin typeface="Arial Bold"/>
                <a:ea typeface="Arial Bold"/>
                <a:cs typeface="Arial Bold"/>
                <a:sym typeface="Arial Bold"/>
              </a:rPr>
              <a:t>┌───────────────────┴───────────────────┐</a:t>
            </a:r>
          </a:p>
          <a:p>
            <a:pPr algn="ctr">
              <a:lnSpc>
                <a:spcPts val="2400"/>
              </a:lnSpc>
              <a:spcBef>
                <a:spcPct val="0"/>
              </a:spcBef>
            </a:pPr>
            <a:r>
              <a:rPr lang="en-US" sz="2000" b="1" dirty="0">
                <a:solidFill>
                  <a:srgbClr val="000000"/>
                </a:solidFill>
                <a:latin typeface="Arial Bold"/>
                <a:ea typeface="Arial Bold"/>
                <a:cs typeface="Arial Bold"/>
                <a:sym typeface="Arial Bold"/>
              </a:rPr>
              <a:t>▼                                       ▼</a:t>
            </a:r>
          </a:p>
          <a:p>
            <a:pPr algn="ctr">
              <a:lnSpc>
                <a:spcPts val="2400"/>
              </a:lnSpc>
              <a:spcBef>
                <a:spcPct val="0"/>
              </a:spcBef>
            </a:pPr>
            <a:r>
              <a:rPr lang="en-US" sz="2000" b="1" dirty="0">
                <a:solidFill>
                  <a:srgbClr val="000000"/>
                </a:solidFill>
                <a:latin typeface="Arial Bold"/>
                <a:ea typeface="Arial Bold"/>
                <a:cs typeface="Arial Bold"/>
                <a:sym typeface="Arial Bold"/>
              </a:rPr>
              <a:t>[Giao </a:t>
            </a:r>
            <a:r>
              <a:rPr lang="en-US" sz="2000" b="1" dirty="0" err="1">
                <a:solidFill>
                  <a:srgbClr val="000000"/>
                </a:solidFill>
                <a:latin typeface="Arial Bold"/>
                <a:ea typeface="Arial Bold"/>
                <a:cs typeface="Arial Bold"/>
                <a:sym typeface="Arial Bold"/>
              </a:rPr>
              <a:t>diện</a:t>
            </a:r>
            <a:r>
              <a:rPr lang="en-US" sz="2000" b="1" dirty="0">
                <a:solidFill>
                  <a:srgbClr val="000000"/>
                </a:solidFill>
                <a:latin typeface="Arial Bold"/>
                <a:ea typeface="Arial Bold"/>
                <a:cs typeface="Arial Bold"/>
                <a:sym typeface="Arial Bold"/>
              </a:rPr>
              <a:t> Học </a:t>
            </a:r>
            <a:r>
              <a:rPr lang="en-US" sz="2000" b="1" dirty="0" err="1">
                <a:solidFill>
                  <a:srgbClr val="000000"/>
                </a:solidFill>
                <a:latin typeface="Arial Bold"/>
                <a:ea typeface="Arial Bold"/>
                <a:cs typeface="Arial Bold"/>
                <a:sym typeface="Arial Bold"/>
              </a:rPr>
              <a:t>sinh</a:t>
            </a:r>
            <a:r>
              <a:rPr lang="en-US" sz="2000" b="1" dirty="0">
                <a:solidFill>
                  <a:srgbClr val="000000"/>
                </a:solidFill>
                <a:latin typeface="Arial Bold"/>
                <a:ea typeface="Arial Bold"/>
                <a:cs typeface="Arial Bold"/>
                <a:sym typeface="Arial Bold"/>
              </a:rPr>
              <a:t>:                    [Dashboard </a:t>
            </a:r>
            <a:r>
              <a:rPr lang="en-US" sz="2000" b="1" dirty="0" err="1">
                <a:solidFill>
                  <a:srgbClr val="000000"/>
                </a:solidFill>
                <a:latin typeface="Arial Bold"/>
                <a:ea typeface="Arial Bold"/>
                <a:cs typeface="Arial Bold"/>
                <a:sym typeface="Arial Bold"/>
              </a:rPr>
              <a:t>Giáo</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viên</a:t>
            </a:r>
            <a:r>
              <a:rPr lang="en-US" sz="2000" b="1" dirty="0">
                <a:solidFill>
                  <a:srgbClr val="000000"/>
                </a:solidFill>
                <a:latin typeface="Arial Bold"/>
                <a:ea typeface="Arial Bold"/>
                <a:cs typeface="Arial Bold"/>
                <a:sym typeface="Arial Bold"/>
              </a:rPr>
              <a:t>/</a:t>
            </a:r>
            <a:r>
              <a:rPr lang="en-US" sz="2000" b="1" dirty="0" err="1">
                <a:solidFill>
                  <a:srgbClr val="000000"/>
                </a:solidFill>
                <a:latin typeface="Arial Bold"/>
                <a:ea typeface="Arial Bold"/>
                <a:cs typeface="Arial Bold"/>
                <a:sym typeface="Arial Bold"/>
              </a:rPr>
              <a:t>Phụ</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huynh</a:t>
            </a:r>
            <a:r>
              <a:rPr lang="en-US" sz="2000" b="1" dirty="0">
                <a:solidFill>
                  <a:srgbClr val="000000"/>
                </a:solidFill>
                <a:latin typeface="Arial Bold"/>
                <a:ea typeface="Arial Bold"/>
                <a:cs typeface="Arial Bold"/>
                <a:sym typeface="Arial Bold"/>
              </a:rPr>
              <a:t>:</a:t>
            </a:r>
          </a:p>
          <a:p>
            <a:pPr algn="ctr">
              <a:lnSpc>
                <a:spcPts val="2400"/>
              </a:lnSpc>
              <a:spcBef>
                <a:spcPct val="0"/>
              </a:spcBef>
            </a:pPr>
            <a:r>
              <a:rPr lang="en-US" sz="2000" b="1" dirty="0" err="1">
                <a:solidFill>
                  <a:srgbClr val="000000"/>
                </a:solidFill>
                <a:latin typeface="Arial Bold"/>
                <a:ea typeface="Arial Bold"/>
                <a:cs typeface="Arial Bold"/>
                <a:sym typeface="Arial Bold"/>
              </a:rPr>
              <a:t>Gợi</a:t>
            </a:r>
            <a:r>
              <a:rPr lang="en-US" sz="2000" b="1" dirty="0">
                <a:solidFill>
                  <a:srgbClr val="000000"/>
                </a:solidFill>
                <a:latin typeface="Arial Bold"/>
                <a:ea typeface="Arial Bold"/>
                <a:cs typeface="Arial Bold"/>
                <a:sym typeface="Arial Bold"/>
              </a:rPr>
              <a:t> ý </a:t>
            </a:r>
            <a:r>
              <a:rPr lang="en-US" sz="2000" b="1" dirty="0" err="1">
                <a:solidFill>
                  <a:srgbClr val="000000"/>
                </a:solidFill>
                <a:latin typeface="Arial Bold"/>
                <a:ea typeface="Arial Bold"/>
                <a:cs typeface="Arial Bold"/>
                <a:sym typeface="Arial Bold"/>
              </a:rPr>
              <a:t>lộ</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trình</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cá</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nhân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hóa</a:t>
            </a:r>
            <a:r>
              <a:rPr lang="en-US" sz="2000" b="1" dirty="0">
                <a:solidFill>
                  <a:srgbClr val="000000"/>
                </a:solidFill>
                <a:latin typeface="Arial Bold"/>
                <a:ea typeface="Arial Bold"/>
                <a:cs typeface="Arial Bold"/>
                <a:sym typeface="Arial Bold"/>
              </a:rPr>
              <a:t>,              Báo </a:t>
            </a:r>
            <a:r>
              <a:rPr lang="en-US" sz="2000" b="1" dirty="0" err="1">
                <a:solidFill>
                  <a:srgbClr val="000000"/>
                </a:solidFill>
                <a:latin typeface="Arial Bold"/>
                <a:ea typeface="Arial Bold"/>
                <a:cs typeface="Arial Bold"/>
                <a:sym typeface="Arial Bold"/>
              </a:rPr>
              <a:t>cáo</a:t>
            </a:r>
            <a:r>
              <a:rPr lang="en-US" sz="2000" b="1" dirty="0">
                <a:solidFill>
                  <a:srgbClr val="000000"/>
                </a:solidFill>
                <a:latin typeface="Arial Bold"/>
                <a:ea typeface="Arial Bold"/>
                <a:cs typeface="Arial Bold"/>
                <a:sym typeface="Arial Bold"/>
              </a:rPr>
              <a:t> xu </a:t>
            </a:r>
            <a:r>
              <a:rPr lang="en-US" sz="2000" b="1" dirty="0" err="1">
                <a:solidFill>
                  <a:srgbClr val="000000"/>
                </a:solidFill>
                <a:latin typeface="Arial Bold"/>
                <a:ea typeface="Arial Bold"/>
                <a:cs typeface="Arial Bold"/>
                <a:sym typeface="Arial Bold"/>
              </a:rPr>
              <a:t>hướng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sức</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khỏe</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tổng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quan</a:t>
            </a:r>
            <a:r>
              <a:rPr lang="en-US" sz="2000" b="1" dirty="0">
                <a:solidFill>
                  <a:srgbClr val="000000"/>
                </a:solidFill>
                <a:latin typeface="Arial Bold"/>
                <a:ea typeface="Arial Bold"/>
                <a:cs typeface="Arial Bold"/>
                <a:sym typeface="Arial Bold"/>
              </a:rPr>
              <a:t>,</a:t>
            </a:r>
          </a:p>
          <a:p>
            <a:pPr algn="ctr">
              <a:lnSpc>
                <a:spcPts val="2400"/>
              </a:lnSpc>
              <a:spcBef>
                <a:spcPct val="0"/>
              </a:spcBef>
            </a:pPr>
            <a:r>
              <a:rPr lang="en-US" sz="2000" b="1" dirty="0" err="1">
                <a:solidFill>
                  <a:srgbClr val="000000"/>
                </a:solidFill>
                <a:latin typeface="Arial Bold"/>
                <a:ea typeface="Arial Bold"/>
                <a:cs typeface="Arial Bold"/>
                <a:sym typeface="Arial Bold"/>
              </a:rPr>
              <a:t>Cảnh</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báo</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thời</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gian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thực</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Cảnh</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báo</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nguy</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cơ</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Thiếu</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ngủ</a:t>
            </a:r>
            <a:r>
              <a:rPr lang="en-US" sz="2000" b="1" dirty="0">
                <a:solidFill>
                  <a:srgbClr val="000000"/>
                </a:solidFill>
                <a:latin typeface="Arial Bold"/>
                <a:ea typeface="Arial Bold"/>
                <a:cs typeface="Arial Bold"/>
                <a:sym typeface="Arial Bold"/>
              </a:rPr>
              <a:t>, stress)]</a:t>
            </a:r>
          </a:p>
          <a:p>
            <a:pPr algn="ctr">
              <a:lnSpc>
                <a:spcPts val="2400"/>
              </a:lnSpc>
              <a:spcBef>
                <a:spcPct val="0"/>
              </a:spcBef>
            </a:pPr>
            <a:r>
              <a:rPr lang="en-US" sz="2000" b="1" dirty="0" err="1">
                <a:solidFill>
                  <a:srgbClr val="000000"/>
                </a:solidFill>
                <a:latin typeface="Arial Bold"/>
                <a:ea typeface="Arial Bold"/>
                <a:cs typeface="Arial Bold"/>
                <a:sym typeface="Arial Bold"/>
              </a:rPr>
              <a:t>Tặng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điểm</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thưởng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đổi</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quà</a:t>
            </a:r>
            <a:r>
              <a:rPr lang="en-US" sz="2000" b="1" dirty="0">
                <a:solidFill>
                  <a:srgbClr val="000000"/>
                </a:solidFill>
                <a:latin typeface="Arial Bold"/>
                <a:ea typeface="Arial Bold"/>
                <a:cs typeface="Arial Bold"/>
                <a:sym typeface="Arial Bold"/>
              </a:rPr>
              <a:t>]</a:t>
            </a:r>
          </a:p>
          <a:p>
            <a:pPr algn="ctr">
              <a:lnSpc>
                <a:spcPts val="2400"/>
              </a:lnSpc>
              <a:spcBef>
                <a:spcPct val="0"/>
              </a:spcBef>
            </a:pPr>
            <a:endParaRPr lang="en-US" sz="2000" b="1" dirty="0">
              <a:solidFill>
                <a:srgbClr val="000000"/>
              </a:solidFill>
              <a:latin typeface="Arial Bold"/>
              <a:ea typeface="Arial Bold"/>
              <a:cs typeface="Arial Bold"/>
              <a:sym typeface="Arial Bold"/>
            </a:endParaRPr>
          </a:p>
          <a:p>
            <a:pPr algn="ctr">
              <a:lnSpc>
                <a:spcPts val="2400"/>
              </a:lnSpc>
              <a:spcBef>
                <a:spcPct val="0"/>
              </a:spcBef>
            </a:pPr>
            <a:r>
              <a:rPr lang="en-US" sz="2000" b="1" dirty="0">
                <a:solidFill>
                  <a:srgbClr val="000000"/>
                </a:solidFill>
                <a:latin typeface="Arial Bold"/>
                <a:ea typeface="Arial Bold"/>
                <a:cs typeface="Arial Bold"/>
                <a:sym typeface="Arial Bold"/>
              </a:rPr>
              <a:t>```</a:t>
            </a:r>
          </a:p>
          <a:p>
            <a:pPr algn="ctr">
              <a:lnSpc>
                <a:spcPts val="2400"/>
              </a:lnSpc>
              <a:spcBef>
                <a:spcPct val="0"/>
              </a:spcBef>
            </a:pPr>
            <a:endParaRPr lang="en-US" sz="2000" b="1" dirty="0">
              <a:solidFill>
                <a:srgbClr val="000000"/>
              </a:solidFill>
              <a:latin typeface="Arial Bold"/>
              <a:ea typeface="Arial Bold"/>
              <a:cs typeface="Arial Bold"/>
              <a:sym typeface="Arial Bold"/>
            </a:endParaRPr>
          </a:p>
          <a:p>
            <a:pPr algn="l">
              <a:lnSpc>
                <a:spcPts val="2400"/>
              </a:lnSpc>
              <a:spcBef>
                <a:spcPct val="0"/>
              </a:spcBef>
            </a:pPr>
            <a:r>
              <a:rPr lang="en-US" sz="2000" b="1" dirty="0" err="1">
                <a:solidFill>
                  <a:srgbClr val="000000"/>
                </a:solidFill>
                <a:latin typeface="Arial Bold"/>
                <a:ea typeface="Arial Bold"/>
                <a:cs typeface="Arial Bold"/>
                <a:sym typeface="Arial Bold"/>
              </a:rPr>
              <a:t>Phụ</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lục</a:t>
            </a:r>
            <a:r>
              <a:rPr lang="en-US" sz="2000" b="1" dirty="0">
                <a:solidFill>
                  <a:srgbClr val="000000"/>
                </a:solidFill>
                <a:latin typeface="Arial Bold"/>
                <a:ea typeface="Arial Bold"/>
                <a:cs typeface="Arial Bold"/>
                <a:sym typeface="Arial Bold"/>
              </a:rPr>
              <a:t> C: Cam </a:t>
            </a:r>
            <a:r>
              <a:rPr lang="en-US" sz="2000" b="1" dirty="0" err="1">
                <a:solidFill>
                  <a:srgbClr val="000000"/>
                </a:solidFill>
                <a:latin typeface="Arial Bold"/>
                <a:ea typeface="Arial Bold"/>
                <a:cs typeface="Arial Bold"/>
                <a:sym typeface="Arial Bold"/>
              </a:rPr>
              <a:t>kết</a:t>
            </a:r>
            <a:r>
              <a:rPr lang="en-US" sz="2000" b="1" dirty="0">
                <a:solidFill>
                  <a:srgbClr val="000000"/>
                </a:solidFill>
                <a:latin typeface="Arial Bold"/>
                <a:ea typeface="Arial Bold"/>
                <a:cs typeface="Arial Bold"/>
                <a:sym typeface="Arial Bold"/>
              </a:rPr>
              <a:t> an </a:t>
            </a:r>
            <a:r>
              <a:rPr lang="en-US" sz="2000" b="1" dirty="0" err="1">
                <a:solidFill>
                  <a:srgbClr val="000000"/>
                </a:solidFill>
                <a:latin typeface="Arial Bold"/>
                <a:ea typeface="Arial Bold"/>
                <a:cs typeface="Arial Bold"/>
                <a:sym typeface="Arial Bold"/>
              </a:rPr>
              <a:t>toàn</a:t>
            </a:r>
            <a:r>
              <a:rPr lang="en-US" sz="2000" b="1" dirty="0">
                <a:solidFill>
                  <a:srgbClr val="000000"/>
                </a:solidFill>
                <a:latin typeface="Arial Bold"/>
                <a:ea typeface="Arial Bold"/>
                <a:cs typeface="Arial Bold"/>
                <a:sym typeface="Arial Bold"/>
              </a:rPr>
              <a:t> y </a:t>
            </a:r>
            <a:r>
              <a:rPr lang="en-US" sz="2000" b="1" dirty="0" err="1">
                <a:solidFill>
                  <a:srgbClr val="000000"/>
                </a:solidFill>
                <a:latin typeface="Arial Bold"/>
                <a:ea typeface="Arial Bold"/>
                <a:cs typeface="Arial Bold"/>
                <a:sym typeface="Arial Bold"/>
              </a:rPr>
              <a:t>tế</a:t>
            </a:r>
            <a:endParaRPr lang="en-US" sz="2000" b="1" dirty="0">
              <a:solidFill>
                <a:srgbClr val="000000"/>
              </a:solidFill>
              <a:latin typeface="Arial Bold"/>
              <a:ea typeface="Arial Bold"/>
              <a:cs typeface="Arial Bold"/>
              <a:sym typeface="Arial Bold"/>
            </a:endParaRPr>
          </a:p>
          <a:p>
            <a:pPr>
              <a:lnSpc>
                <a:spcPts val="2400"/>
              </a:lnSpc>
              <a:spcBef>
                <a:spcPct val="0"/>
              </a:spcBef>
            </a:pPr>
            <a:r>
              <a:rPr lang="en-US" sz="2000" dirty="0" err="1">
                <a:solidFill>
                  <a:srgbClr val="000000"/>
                </a:solidFill>
                <a:latin typeface="Arial"/>
                <a:ea typeface="Arial"/>
                <a:cs typeface="Arial"/>
                <a:sym typeface="Arial"/>
              </a:rPr>
              <a:t>Toàn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bộ</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thuật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toán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lời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khuyên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bài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a:t>
            </a:r>
            <a:r>
              <a:rPr lang="en-US" sz="2000" dirty="0"/>
              <a:t> AI School Health Coach </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được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tham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chiếu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từ</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Sổ</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tay</a:t>
            </a:r>
            <a:r>
              <a:rPr lang="en-US" sz="2000" dirty="0">
                <a:solidFill>
                  <a:srgbClr val="000000"/>
                </a:solidFill>
                <a:latin typeface="Arial"/>
                <a:ea typeface="Arial"/>
                <a:cs typeface="Arial"/>
                <a:sym typeface="Arial"/>
              </a:rPr>
              <a:t> Y </a:t>
            </a:r>
            <a:r>
              <a:rPr lang="en-US" sz="2000" dirty="0" err="1">
                <a:solidFill>
                  <a:srgbClr val="000000"/>
                </a:solidFill>
                <a:latin typeface="Arial"/>
                <a:ea typeface="Arial"/>
                <a:cs typeface="Arial"/>
                <a:sym typeface="Arial"/>
              </a:rPr>
              <a:t>tế</a:t>
            </a:r>
            <a:r>
              <a:rPr lang="en-US" sz="2000" dirty="0">
                <a:solidFill>
                  <a:srgbClr val="000000"/>
                </a:solidFill>
                <a:latin typeface="Arial"/>
                <a:ea typeface="Arial"/>
                <a:cs typeface="Arial"/>
                <a:sym typeface="Arial"/>
              </a:rPr>
              <a:t> Học </a:t>
            </a:r>
            <a:r>
              <a:rPr lang="en-US" sz="2000" dirty="0" err="1">
                <a:solidFill>
                  <a:srgbClr val="000000"/>
                </a:solidFill>
                <a:latin typeface="Arial"/>
                <a:ea typeface="Arial"/>
                <a:cs typeface="Arial"/>
                <a:sym typeface="Arial"/>
              </a:rPr>
              <a:t>đường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Bộ</a:t>
            </a:r>
            <a:r>
              <a:rPr lang="en-US" sz="2000" dirty="0">
                <a:solidFill>
                  <a:srgbClr val="000000"/>
                </a:solidFill>
                <a:latin typeface="Arial"/>
                <a:ea typeface="Arial"/>
                <a:cs typeface="Arial"/>
                <a:sym typeface="Arial"/>
              </a:rPr>
              <a:t> Y </a:t>
            </a:r>
            <a:r>
              <a:rPr lang="en-US" sz="2000" dirty="0" err="1">
                <a:solidFill>
                  <a:srgbClr val="000000"/>
                </a:solidFill>
                <a:latin typeface="Arial"/>
                <a:ea typeface="Arial"/>
                <a:cs typeface="Arial"/>
                <a:sym typeface="Arial"/>
              </a:rPr>
              <a:t>tế</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Bộ</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Giáo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dục</a:t>
            </a:r>
            <a:r>
              <a:rPr lang="en-US" sz="2000" dirty="0">
                <a:solidFill>
                  <a:srgbClr val="000000"/>
                </a:solidFill>
                <a:latin typeface="Arial"/>
                <a:ea typeface="Arial"/>
                <a:cs typeface="Arial"/>
                <a:sym typeface="Arial"/>
              </a:rPr>
              <a:t> &amp; Đào </a:t>
            </a:r>
            <a:r>
              <a:rPr lang="en-US" sz="2000" dirty="0" err="1">
                <a:solidFill>
                  <a:srgbClr val="000000"/>
                </a:solidFill>
                <a:latin typeface="Arial"/>
                <a:ea typeface="Arial"/>
                <a:cs typeface="Arial"/>
                <a:sym typeface="Arial"/>
              </a:rPr>
              <a:t>tạo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đóng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vai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trò</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một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cụ</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điều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chỉnh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lối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sống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xây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dựng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thói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quen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lành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mạnh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hoàn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toàn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thay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thế</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phác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chẩn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đoán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điều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trị</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chuyên</a:t>
            </a:r>
            <a:r>
              <a:rPr lang="en-US" sz="2000" dirty="0">
                <a:solidFill>
                  <a:srgbClr val="000000"/>
                </a:solidFill>
                <a:latin typeface="Arial"/>
                <a:ea typeface="Arial"/>
                <a:cs typeface="Arial"/>
                <a:sym typeface="Arial"/>
              </a:rPr>
              <a:t> khoa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sĩ</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hoặc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nhân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viên</a:t>
            </a:r>
            <a:r>
              <a:rPr lang="en-US" sz="2000" dirty="0">
                <a:solidFill>
                  <a:srgbClr val="000000"/>
                </a:solidFill>
                <a:latin typeface="Arial"/>
                <a:ea typeface="Arial"/>
                <a:cs typeface="Arial"/>
                <a:sym typeface="Arial"/>
              </a:rPr>
              <a:t> y </a:t>
            </a:r>
            <a:r>
              <a:rPr lang="en-US" sz="2000" dirty="0" err="1">
                <a:solidFill>
                  <a:srgbClr val="000000"/>
                </a:solidFill>
                <a:latin typeface="Arial"/>
                <a:ea typeface="Arial"/>
                <a:cs typeface="Arial"/>
                <a:sym typeface="Arial"/>
              </a:rPr>
              <a:t>tế</a:t>
            </a:r>
            <a:r>
              <a:rPr lang="en-US" sz="2000" dirty="0">
                <a:solidFill>
                  <a:srgbClr val="000000"/>
                </a:solidFill>
                <a:latin typeface="Arial"/>
                <a:ea typeface="Arial"/>
                <a:cs typeface="Arial"/>
                <a:sym typeface="Arial"/>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91075" y="1988239"/>
            <a:ext cx="9048750" cy="1802130"/>
            <a:chOff x="0" y="0"/>
            <a:chExt cx="12065000" cy="2402840"/>
          </a:xfrm>
        </p:grpSpPr>
        <p:sp>
          <p:nvSpPr>
            <p:cNvPr id="3" name="Freeform 3"/>
            <p:cNvSpPr/>
            <p:nvPr/>
          </p:nvSpPr>
          <p:spPr>
            <a:xfrm>
              <a:off x="0" y="0"/>
              <a:ext cx="12065000" cy="2402840"/>
            </a:xfrm>
            <a:custGeom>
              <a:avLst/>
              <a:gdLst/>
              <a:ahLst/>
              <a:cxnLst/>
              <a:rect l="l" t="t" r="r" b="b"/>
              <a:pathLst>
                <a:path w="12065000" h="2402840">
                  <a:moveTo>
                    <a:pt x="0" y="0"/>
                  </a:moveTo>
                  <a:lnTo>
                    <a:pt x="12065000" y="0"/>
                  </a:lnTo>
                  <a:lnTo>
                    <a:pt x="12065000" y="2402840"/>
                  </a:lnTo>
                  <a:lnTo>
                    <a:pt x="0" y="2402840"/>
                  </a:lnTo>
                  <a:close/>
                </a:path>
              </a:pathLst>
            </a:custGeom>
            <a:solidFill>
              <a:srgbClr val="FFFFFF"/>
            </a:solidFill>
            <a:ln w="19050" cap="sq">
              <a:solidFill>
                <a:srgbClr val="D9D9D9"/>
              </a:solidFill>
              <a:prstDash val="solid"/>
              <a:miter/>
            </a:ln>
          </p:spPr>
          <p:txBody>
            <a:bodyPr/>
            <a:lstStyle/>
            <a:p>
              <a:endParaRPr lang="en-US"/>
            </a:p>
          </p:txBody>
        </p:sp>
        <p:sp>
          <p:nvSpPr>
            <p:cNvPr id="4" name="TextBox 4"/>
            <p:cNvSpPr txBox="1"/>
            <p:nvPr/>
          </p:nvSpPr>
          <p:spPr>
            <a:xfrm>
              <a:off x="0" y="-504825"/>
              <a:ext cx="12065000" cy="2907665"/>
            </a:xfrm>
            <a:prstGeom prst="rect">
              <a:avLst/>
            </a:prstGeom>
          </p:spPr>
          <p:txBody>
            <a:bodyPr lIns="50800" tIns="50800" rIns="50800" bIns="50800" rtlCol="0" anchor="ctr"/>
            <a:lstStyle/>
            <a:p>
              <a:pPr algn="ctr">
                <a:lnSpc>
                  <a:spcPts val="12240"/>
                </a:lnSpc>
              </a:pPr>
              <a:r>
                <a:rPr lang="en-US" sz="6000">
                  <a:solidFill>
                    <a:srgbClr val="595959"/>
                  </a:solidFill>
                  <a:latin typeface="Arial"/>
                  <a:ea typeface="Arial"/>
                  <a:cs typeface="Arial"/>
                  <a:sym typeface="Arial"/>
                </a:rPr>
                <a:t>KẾT THÚC BÀI DỰ THI </a:t>
              </a:r>
            </a:p>
          </p:txBody>
        </p:sp>
      </p:grpSp>
      <p:grpSp>
        <p:nvGrpSpPr>
          <p:cNvPr id="5" name="Group 5"/>
          <p:cNvGrpSpPr/>
          <p:nvPr/>
        </p:nvGrpSpPr>
        <p:grpSpPr>
          <a:xfrm>
            <a:off x="853758" y="4755585"/>
            <a:ext cx="17259300" cy="3886200"/>
            <a:chOff x="0" y="0"/>
            <a:chExt cx="23012400" cy="5181600"/>
          </a:xfrm>
        </p:grpSpPr>
        <p:sp>
          <p:nvSpPr>
            <p:cNvPr id="6" name="Freeform 6"/>
            <p:cNvSpPr/>
            <p:nvPr/>
          </p:nvSpPr>
          <p:spPr>
            <a:xfrm>
              <a:off x="0" y="0"/>
              <a:ext cx="23012400" cy="5181600"/>
            </a:xfrm>
            <a:custGeom>
              <a:avLst/>
              <a:gdLst/>
              <a:ahLst/>
              <a:cxnLst/>
              <a:rect l="l" t="t" r="r" b="b"/>
              <a:pathLst>
                <a:path w="23012400" h="5181600">
                  <a:moveTo>
                    <a:pt x="0" y="0"/>
                  </a:moveTo>
                  <a:lnTo>
                    <a:pt x="23012400" y="0"/>
                  </a:lnTo>
                  <a:lnTo>
                    <a:pt x="23012400" y="5181600"/>
                  </a:lnTo>
                  <a:lnTo>
                    <a:pt x="0" y="5181600"/>
                  </a:lnTo>
                  <a:close/>
                </a:path>
              </a:pathLst>
            </a:custGeom>
            <a:blipFill>
              <a:blip r:embed="rId2">
                <a:alphaModFix amt="0"/>
              </a:blip>
              <a:stretch>
                <a:fillRect t="-36536" b="-36536"/>
              </a:stretch>
            </a:blipFill>
          </p:spPr>
          <p:txBody>
            <a:bodyPr/>
            <a:lstStyle/>
            <a:p>
              <a:endParaRPr lang="en-US"/>
            </a:p>
          </p:txBody>
        </p:sp>
        <p:sp>
          <p:nvSpPr>
            <p:cNvPr id="7" name="TextBox 7"/>
            <p:cNvSpPr txBox="1"/>
            <p:nvPr/>
          </p:nvSpPr>
          <p:spPr>
            <a:xfrm>
              <a:off x="0" y="38100"/>
              <a:ext cx="23012400" cy="5143500"/>
            </a:xfrm>
            <a:prstGeom prst="rect">
              <a:avLst/>
            </a:prstGeom>
          </p:spPr>
          <p:txBody>
            <a:bodyPr lIns="0" tIns="0" rIns="0" bIns="0" rtlCol="0" anchor="ctr"/>
            <a:lstStyle/>
            <a:p>
              <a:pPr algn="ctr">
                <a:lnSpc>
                  <a:spcPts val="5184"/>
                </a:lnSpc>
              </a:pPr>
              <a:r>
                <a:rPr lang="en-US" sz="4800" dirty="0" err="1">
                  <a:solidFill>
                    <a:srgbClr val="000000"/>
                  </a:solidFill>
                  <a:latin typeface="Arial"/>
                  <a:ea typeface="Arial"/>
                  <a:cs typeface="Arial"/>
                  <a:sym typeface="Arial"/>
                </a:rPr>
                <a:t>Đội</a:t>
              </a:r>
              <a:r>
                <a:rPr lang="en-US" sz="4800" dirty="0">
                  <a:solidFill>
                    <a:srgbClr val="000000"/>
                  </a:solidFill>
                  <a:latin typeface="Arial"/>
                  <a:ea typeface="Arial"/>
                  <a:cs typeface="Arial"/>
                  <a:sym typeface="Arial"/>
                </a:rPr>
                <a:t> </a:t>
              </a:r>
              <a:r>
                <a:rPr lang="en-US" sz="4800" dirty="0" err="1">
                  <a:solidFill>
                    <a:srgbClr val="000000"/>
                  </a:solidFill>
                  <a:latin typeface="Arial"/>
                  <a:ea typeface="Arial"/>
                  <a:cs typeface="Arial"/>
                  <a:sym typeface="Arial"/>
                </a:rPr>
                <a:t>Thi</a:t>
              </a:r>
              <a:r>
                <a:rPr lang="en-US" sz="4800" dirty="0">
                  <a:solidFill>
                    <a:srgbClr val="000000"/>
                  </a:solidFill>
                  <a:latin typeface="Arial"/>
                  <a:ea typeface="Arial"/>
                  <a:cs typeface="Arial"/>
                  <a:sym typeface="Arial"/>
                </a:rPr>
                <a:t>: </a:t>
              </a:r>
              <a:r>
                <a:rPr lang="en-US" sz="4800" dirty="0" err="1">
                  <a:solidFill>
                    <a:srgbClr val="000000"/>
                  </a:solidFill>
                  <a:latin typeface="Arial"/>
                  <a:ea typeface="Arial"/>
                  <a:cs typeface="Arial"/>
                  <a:sym typeface="Arial"/>
                </a:rPr>
                <a:t>AIMedic</a:t>
              </a:r>
              <a:endParaRPr lang="en-US" sz="4800" dirty="0">
                <a:solidFill>
                  <a:srgbClr val="000000"/>
                </a:solidFill>
                <a:latin typeface="Arial"/>
                <a:ea typeface="Arial"/>
                <a:cs typeface="Arial"/>
                <a:sym typeface="Arial"/>
              </a:endParaRPr>
            </a:p>
            <a:p>
              <a:pPr algn="ctr">
                <a:lnSpc>
                  <a:spcPts val="3726"/>
                </a:lnSpc>
              </a:pPr>
              <a:r>
                <a:rPr lang="en-US" sz="3450" dirty="0" err="1">
                  <a:solidFill>
                    <a:srgbClr val="000000"/>
                  </a:solidFill>
                  <a:latin typeface="Arial"/>
                  <a:ea typeface="Arial"/>
                  <a:cs typeface="Arial"/>
                  <a:sym typeface="Arial"/>
                </a:rPr>
                <a:t>Giáo</a:t>
              </a:r>
              <a:r>
                <a:rPr lang="en-US" sz="3450" dirty="0">
                  <a:solidFill>
                    <a:srgbClr val="000000"/>
                  </a:solidFill>
                  <a:latin typeface="Arial"/>
                  <a:ea typeface="Arial"/>
                  <a:cs typeface="Arial"/>
                  <a:sym typeface="Arial"/>
                </a:rPr>
                <a:t> </a:t>
              </a:r>
              <a:r>
                <a:rPr lang="en-US" sz="3450" dirty="0" err="1">
                  <a:solidFill>
                    <a:srgbClr val="000000"/>
                  </a:solidFill>
                  <a:latin typeface="Arial"/>
                  <a:ea typeface="Arial"/>
                  <a:cs typeface="Arial"/>
                  <a:sym typeface="Arial"/>
                </a:rPr>
                <a:t>viên</a:t>
              </a:r>
              <a:r>
                <a:rPr lang="en-US" sz="3450" dirty="0">
                  <a:solidFill>
                    <a:srgbClr val="000000"/>
                  </a:solidFill>
                  <a:latin typeface="Arial"/>
                  <a:ea typeface="Arial"/>
                  <a:cs typeface="Arial"/>
                  <a:sym typeface="Arial"/>
                </a:rPr>
                <a:t> </a:t>
              </a:r>
              <a:r>
                <a:rPr lang="en-US" sz="3450" dirty="0" err="1">
                  <a:solidFill>
                    <a:srgbClr val="000000"/>
                  </a:solidFill>
                  <a:latin typeface="Arial"/>
                  <a:ea typeface="Arial"/>
                  <a:cs typeface="Arial"/>
                  <a:sym typeface="Arial"/>
                </a:rPr>
                <a:t>hướng</a:t>
              </a:r>
              <a:r>
                <a:rPr lang="en-US" sz="3450" dirty="0">
                  <a:solidFill>
                    <a:srgbClr val="000000"/>
                  </a:solidFill>
                  <a:latin typeface="Arial"/>
                  <a:ea typeface="Arial"/>
                  <a:cs typeface="Arial"/>
                  <a:sym typeface="Arial"/>
                </a:rPr>
                <a:t> </a:t>
              </a:r>
              <a:r>
                <a:rPr lang="en-US" sz="3450" dirty="0" err="1">
                  <a:solidFill>
                    <a:srgbClr val="000000"/>
                  </a:solidFill>
                  <a:latin typeface="Arial"/>
                  <a:ea typeface="Arial"/>
                  <a:cs typeface="Arial"/>
                  <a:sym typeface="Arial"/>
                </a:rPr>
                <a:t>dẫn</a:t>
              </a:r>
              <a:r>
                <a:rPr lang="en-US" sz="3450" dirty="0">
                  <a:solidFill>
                    <a:srgbClr val="000000"/>
                  </a:solidFill>
                  <a:latin typeface="Arial"/>
                  <a:ea typeface="Arial"/>
                  <a:cs typeface="Arial"/>
                  <a:sym typeface="Arial"/>
                </a:rPr>
                <a:t>: </a:t>
              </a:r>
              <a:r>
                <a:rPr lang="en-US" sz="3450" dirty="0" err="1">
                  <a:solidFill>
                    <a:srgbClr val="0070C0"/>
                  </a:solidFill>
                  <a:latin typeface="Arial"/>
                  <a:ea typeface="Arial"/>
                  <a:cs typeface="Arial"/>
                  <a:sym typeface="Arial"/>
                </a:rPr>
                <a:t>Từ</a:t>
              </a:r>
              <a:r>
                <a:rPr lang="en-US" sz="3450" dirty="0">
                  <a:solidFill>
                    <a:srgbClr val="0070C0"/>
                  </a:solidFill>
                  <a:latin typeface="Arial"/>
                  <a:ea typeface="Arial"/>
                  <a:cs typeface="Arial"/>
                  <a:sym typeface="Arial"/>
                </a:rPr>
                <a:t> Phương Anh</a:t>
              </a:r>
            </a:p>
            <a:p>
              <a:pPr algn="ctr">
                <a:lnSpc>
                  <a:spcPts val="3726"/>
                </a:lnSpc>
              </a:pPr>
              <a:r>
                <a:rPr lang="en-US" sz="3450" dirty="0" err="1">
                  <a:solidFill>
                    <a:srgbClr val="000000"/>
                  </a:solidFill>
                  <a:latin typeface="Arial"/>
                  <a:ea typeface="Arial"/>
                  <a:cs typeface="Arial"/>
                  <a:sym typeface="Arial"/>
                </a:rPr>
                <a:t>Đơn</a:t>
              </a:r>
              <a:r>
                <a:rPr lang="en-US" sz="3450" dirty="0">
                  <a:solidFill>
                    <a:srgbClr val="000000"/>
                  </a:solidFill>
                  <a:latin typeface="Arial"/>
                  <a:ea typeface="Arial"/>
                  <a:cs typeface="Arial"/>
                  <a:sym typeface="Arial"/>
                </a:rPr>
                <a:t> </a:t>
              </a:r>
              <a:r>
                <a:rPr lang="en-US" sz="3450" dirty="0" err="1">
                  <a:solidFill>
                    <a:srgbClr val="000000"/>
                  </a:solidFill>
                  <a:latin typeface="Arial"/>
                  <a:ea typeface="Arial"/>
                  <a:cs typeface="Arial"/>
                  <a:sym typeface="Arial"/>
                </a:rPr>
                <a:t>vị</a:t>
              </a:r>
              <a:r>
                <a:rPr lang="en-US" sz="3450" dirty="0">
                  <a:solidFill>
                    <a:srgbClr val="000000"/>
                  </a:solidFill>
                  <a:latin typeface="Arial"/>
                  <a:ea typeface="Arial"/>
                  <a:cs typeface="Arial"/>
                  <a:sym typeface="Arial"/>
                </a:rPr>
                <a:t> </a:t>
              </a:r>
              <a:r>
                <a:rPr lang="en-US" sz="3450" dirty="0" err="1">
                  <a:solidFill>
                    <a:srgbClr val="000000"/>
                  </a:solidFill>
                  <a:latin typeface="Arial"/>
                  <a:ea typeface="Arial"/>
                  <a:cs typeface="Arial"/>
                  <a:sym typeface="Arial"/>
                </a:rPr>
                <a:t>đăng</a:t>
              </a:r>
              <a:r>
                <a:rPr lang="en-US" sz="3450" dirty="0">
                  <a:solidFill>
                    <a:srgbClr val="000000"/>
                  </a:solidFill>
                  <a:latin typeface="Arial"/>
                  <a:ea typeface="Arial"/>
                  <a:cs typeface="Arial"/>
                  <a:sym typeface="Arial"/>
                </a:rPr>
                <a:t> </a:t>
              </a:r>
              <a:r>
                <a:rPr lang="en-US" sz="3450" dirty="0" err="1">
                  <a:solidFill>
                    <a:srgbClr val="000000"/>
                  </a:solidFill>
                  <a:latin typeface="Arial"/>
                  <a:ea typeface="Arial"/>
                  <a:cs typeface="Arial"/>
                  <a:sym typeface="Arial"/>
                </a:rPr>
                <a:t>ký</a:t>
              </a:r>
              <a:r>
                <a:rPr lang="en-US" sz="3450" dirty="0">
                  <a:solidFill>
                    <a:srgbClr val="000000"/>
                  </a:solidFill>
                  <a:latin typeface="Arial"/>
                  <a:ea typeface="Arial"/>
                  <a:cs typeface="Arial"/>
                  <a:sym typeface="Arial"/>
                </a:rPr>
                <a:t>: </a:t>
              </a:r>
              <a:r>
                <a:rPr lang="en-US" sz="3450" dirty="0">
                  <a:solidFill>
                    <a:srgbClr val="0070C0"/>
                  </a:solidFill>
                  <a:latin typeface="Arial"/>
                  <a:ea typeface="Arial"/>
                  <a:cs typeface="Arial"/>
                  <a:sym typeface="Arial"/>
                </a:rPr>
                <a:t>Trường </a:t>
              </a:r>
              <a:r>
                <a:rPr lang="en-US" sz="3450" dirty="0" err="1">
                  <a:solidFill>
                    <a:srgbClr val="0070C0"/>
                  </a:solidFill>
                  <a:latin typeface="Arial"/>
                  <a:ea typeface="Arial"/>
                  <a:cs typeface="Arial"/>
                  <a:sym typeface="Arial"/>
                </a:rPr>
                <a:t>Tiểu</a:t>
              </a:r>
              <a:r>
                <a:rPr lang="en-US" sz="3450" dirty="0">
                  <a:solidFill>
                    <a:srgbClr val="0070C0"/>
                  </a:solidFill>
                  <a:latin typeface="Arial"/>
                  <a:ea typeface="Arial"/>
                  <a:cs typeface="Arial"/>
                  <a:sym typeface="Arial"/>
                </a:rPr>
                <a:t> </a:t>
              </a:r>
              <a:r>
                <a:rPr lang="en-US" sz="3450" dirty="0" err="1">
                  <a:solidFill>
                    <a:srgbClr val="0070C0"/>
                  </a:solidFill>
                  <a:latin typeface="Arial"/>
                  <a:ea typeface="Arial"/>
                  <a:cs typeface="Arial"/>
                  <a:sym typeface="Arial"/>
                </a:rPr>
                <a:t>học</a:t>
              </a:r>
              <a:r>
                <a:rPr lang="en-US" sz="3450" dirty="0">
                  <a:solidFill>
                    <a:srgbClr val="0070C0"/>
                  </a:solidFill>
                  <a:latin typeface="Arial"/>
                  <a:ea typeface="Arial"/>
                  <a:cs typeface="Arial"/>
                  <a:sym typeface="Arial"/>
                </a:rPr>
                <a:t>, THCS </a:t>
              </a:r>
              <a:r>
                <a:rPr lang="en-US" sz="3450" dirty="0" err="1">
                  <a:solidFill>
                    <a:srgbClr val="0070C0"/>
                  </a:solidFill>
                  <a:latin typeface="Arial"/>
                  <a:ea typeface="Arial"/>
                  <a:cs typeface="Arial"/>
                  <a:sym typeface="Arial"/>
                </a:rPr>
                <a:t>và</a:t>
              </a:r>
              <a:r>
                <a:rPr lang="en-US" sz="3450" dirty="0">
                  <a:solidFill>
                    <a:srgbClr val="0070C0"/>
                  </a:solidFill>
                  <a:latin typeface="Arial"/>
                  <a:ea typeface="Arial"/>
                  <a:cs typeface="Arial"/>
                  <a:sym typeface="Arial"/>
                </a:rPr>
                <a:t> THPT FPT Bắc Giang</a:t>
              </a:r>
            </a:p>
            <a:p>
              <a:pPr algn="ctr">
                <a:lnSpc>
                  <a:spcPts val="3726"/>
                </a:lnSpc>
              </a:pPr>
              <a:r>
                <a:rPr lang="en-US" sz="3450" dirty="0" err="1">
                  <a:solidFill>
                    <a:srgbClr val="000000"/>
                  </a:solidFill>
                  <a:latin typeface="Arial"/>
                  <a:ea typeface="Arial"/>
                  <a:cs typeface="Arial"/>
                  <a:sym typeface="Arial"/>
                </a:rPr>
                <a:t>Tỉnh</a:t>
              </a:r>
              <a:r>
                <a:rPr lang="en-US" sz="3450" dirty="0">
                  <a:solidFill>
                    <a:srgbClr val="000000"/>
                  </a:solidFill>
                  <a:latin typeface="Arial"/>
                  <a:ea typeface="Arial"/>
                  <a:cs typeface="Arial"/>
                  <a:sym typeface="Arial"/>
                </a:rPr>
                <a:t>: </a:t>
              </a:r>
              <a:r>
                <a:rPr lang="en-US" sz="3450" dirty="0">
                  <a:solidFill>
                    <a:srgbClr val="0070C0"/>
                  </a:solidFill>
                  <a:latin typeface="Arial"/>
                  <a:ea typeface="Arial"/>
                  <a:cs typeface="Arial"/>
                  <a:sym typeface="Arial"/>
                </a:rPr>
                <a:t>Bắc Ninh</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2585</Words>
  <Application>Microsoft Office PowerPoint</Application>
  <PresentationFormat>Custom</PresentationFormat>
  <Paragraphs>186</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Arial Italics</vt:lpstr>
      <vt:lpstr>Arimo</vt:lpstr>
      <vt:lpstr>Calibri</vt:lpstr>
      <vt:lpstr>Arial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Solve_for_Tomorrow_I_Application_form_(2)_I_FINAL.pptx</dc:title>
  <dc:creator>AnhTP25</dc:creator>
  <cp:lastModifiedBy>LENOVO</cp:lastModifiedBy>
  <cp:revision>5</cp:revision>
  <dcterms:created xsi:type="dcterms:W3CDTF">2006-08-16T00:00:00Z</dcterms:created>
  <dcterms:modified xsi:type="dcterms:W3CDTF">2026-06-30T13:58:51Z</dcterms:modified>
  <dc:identifier>DAHN6vf97Cw</dc:identifier>
</cp:coreProperties>
</file>